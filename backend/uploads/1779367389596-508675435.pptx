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3" roundtripDataSignature="AMtx7mhTfIqj1ZAv0QkV+04TfUHIbuLZx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94"/>
  </p:normalViewPr>
  <p:slideViewPr>
    <p:cSldViewPr snapToGrid="0">
      <p:cViewPr varScale="1">
        <p:scale>
          <a:sx n="121" d="100"/>
          <a:sy n="121" d="100"/>
        </p:scale>
        <p:origin x="440"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c136d33009_1_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g2c136d33009_1_2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g2c136d33009_1_2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ff21e9a6e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g1ff21e9a6e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g1ff21e9a6e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ff21e9a6e0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g1ff21e9a6e0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g1ff21e9a6e0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ff21e9a6e0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g1ff21e9a6e0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g1ff21e9a6e0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ff21e9a6e0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g1ff21e9a6e0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g1ff21e9a6e0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ff21e9a6e0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g1ff21e9a6e0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g1ff21e9a6e0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ff21e9a6e0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g1ff21e9a6e0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g1ff21e9a6e0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ff21e9a6e0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g1ff21e9a6e0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g1ff21e9a6e0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ff21e9a6e0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1ff21e9a6e0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1ff21e9a6e0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ff21e9a6e0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1ff21e9a6e0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1ff21e9a6e0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1ff21e9a6e0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1ff21e9a6e0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1ff21e9a6e0_0_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ff21e9a6e0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1ff21e9a6e0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1ff21e9a6e0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ff21e9a6e0_0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g1ff21e9a6e0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g1ff21e9a6e0_0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ff21e9a6e0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g1ff21e9a6e0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1ff21e9a6e0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ff21e9a6e0_0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1ff21e9a6e0_0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1ff21e9a6e0_0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ff21e9a6e0_0_1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g1ff21e9a6e0_0_1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g1ff21e9a6e0_0_1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ff21e9a6e0_0_1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1ff21e9a6e0_0_1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g1ff21e9a6e0_0_1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ff21e9a6e0_0_1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1ff21e9a6e0_0_1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g1ff21e9a6e0_0_1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c81011df6a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2c81011df6a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2c81011df6a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c81011df6a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2c81011df6a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2c81011df6a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c81011df6a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c81011df6a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g2c81011df6a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c60c5209d3_0_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g2c60c5209d3_0_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g2c60c5209d3_0_1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ff21e9a6e0_0_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1ff21e9a6e0_0_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g1ff21e9a6e0_0_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1ff21e9a6e0_0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1ff21e9a6e0_0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1ff21e9a6e0_0_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ff21e9a6e0_0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1ff21e9a6e0_0_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1ff21e9a6e0_0_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ff21e9a6e0_0_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1ff21e9a6e0_0_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g1ff21e9a6e0_0_1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ff21e9a6e0_0_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g1ff21e9a6e0_0_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g1ff21e9a6e0_0_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ff21e9a6e0_0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g1ff21e9a6e0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g1ff21e9a6e0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ff21e9a6e0_0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g1ff21e9a6e0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g1ff21e9a6e0_0_1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1ff21e9a6e0_0_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g1ff21e9a6e0_0_1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g1ff21e9a6e0_0_1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1ff21e9a6e0_0_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g1ff21e9a6e0_0_1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g1ff21e9a6e0_0_1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ff21e9a6e0_0_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g1ff21e9a6e0_0_1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g1ff21e9a6e0_0_1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1ff21e9a6e0_0_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g1ff21e9a6e0_0_1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g1ff21e9a6e0_0_1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ff21e9a6e0_0_1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g1ff21e9a6e0_0_1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g1ff21e9a6e0_0_1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ff21e9a6e0_0_1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g1ff21e9a6e0_0_1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4" name="Google Shape;344;g1ff21e9a6e0_0_1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1ff21e9a6e0_0_2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g1ff21e9a6e0_0_2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g1ff21e9a6e0_0_2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ff21e9a6e0_0_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g1ff21e9a6e0_0_2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g1ff21e9a6e0_0_2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1ff21e9a6e0_0_2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g1ff21e9a6e0_0_2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g1ff21e9a6e0_0_2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1ff21e9a6e0_0_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g1ff21e9a6e0_0_2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1ff21e9a6e0_0_2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1ff21e9a6e0_0_2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g1ff21e9a6e0_0_2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9" name="Google Shape;379;g1ff21e9a6e0_0_2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1ff21e9a6e0_0_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5" name="Google Shape;385;g1ff21e9a6e0_0_2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g1ff21e9a6e0_0_2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1ff21e9a6e0_0_2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1ff21e9a6e0_0_2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g1ff21e9a6e0_0_2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ff21e9a6e0_0_2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g1ff21e9a6e0_0_2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g1ff21e9a6e0_0_2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1ff21e9a6e0_0_2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g1ff21e9a6e0_0_2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7" name="Google Shape;407;g1ff21e9a6e0_0_2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1ff21e9a6e0_0_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g1ff21e9a6e0_0_2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g1ff21e9a6e0_0_2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1ff21e9a6e0_0_2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g1ff21e9a6e0_0_2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 name="Google Shape;421;g1ff21e9a6e0_0_2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1ff21e9a6e0_0_2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g1ff21e9a6e0_0_2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8" name="Google Shape;428;g1ff21e9a6e0_0_2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ff21e9a6e0_0_2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g1ff21e9a6e0_0_2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5" name="Google Shape;435;g1ff21e9a6e0_0_2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1ff21e9a6e0_0_2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g1ff21e9a6e0_0_2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g1ff21e9a6e0_0_2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1ff21e9a6e0_0_3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0" name="Google Shape;450;g1ff21e9a6e0_0_3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1" name="Google Shape;451;g1ff21e9a6e0_0_3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ff21e9a6e0_0_3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g1ff21e9a6e0_0_3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8" name="Google Shape;458;g1ff21e9a6e0_0_3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1ff21e9a6e0_0_3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g1ff21e9a6e0_0_3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g1ff21e9a6e0_0_3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1ff21e9a6e0_0_3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1" name="Google Shape;471;g1ff21e9a6e0_0_3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2" name="Google Shape;472;g1ff21e9a6e0_0_3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1ff21e9a6e0_0_3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8" name="Google Shape;478;g1ff21e9a6e0_0_3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9" name="Google Shape;479;g1ff21e9a6e0_0_3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1ff21e9a6e0_0_3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g1ff21e9a6e0_0_3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g1ff21e9a6e0_0_3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ff21e9a6e0_0_3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2" name="Google Shape;492;g1ff21e9a6e0_0_3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g1ff21e9a6e0_0_3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1ff21e9a6e0_0_4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g1ff21e9a6e0_0_4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g1ff21e9a6e0_0_4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1ff21e9a6e0_0_3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g1ff21e9a6e0_0_3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7" name="Google Shape;507;g1ff21e9a6e0_0_3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ff21e9a6e0_0_3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 name="Google Shape;513;g1ff21e9a6e0_0_3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4" name="Google Shape;514;g1ff21e9a6e0_0_3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1ff21e9a6e0_0_3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g1ff21e9a6e0_0_3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g1ff21e9a6e0_0_3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2d054763edd_2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g2d054763edd_2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g2d054763edd_2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2d054763edd_2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g2d054763edd_2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5" name="Google Shape;535;g2d054763edd_2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0" name="Google Shape;540;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ecture title" type="title">
  <p:cSld name="TITLE">
    <p:bg>
      <p:bgPr>
        <a:solidFill>
          <a:srgbClr val="3D2683"/>
        </a:solidFill>
        <a:effectLst/>
      </p:bgPr>
    </p:bg>
    <p:spTree>
      <p:nvGrpSpPr>
        <p:cNvPr id="1" name="Shape 15"/>
        <p:cNvGrpSpPr/>
        <p:nvPr/>
      </p:nvGrpSpPr>
      <p:grpSpPr>
        <a:xfrm>
          <a:off x="0" y="0"/>
          <a:ext cx="0" cy="0"/>
          <a:chOff x="0" y="0"/>
          <a:chExt cx="0" cy="0"/>
        </a:xfrm>
      </p:grpSpPr>
      <p:sp>
        <p:nvSpPr>
          <p:cNvPr id="16" name="Google Shape;16;p8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8" name="Google Shape;18;p80"/>
          <p:cNvPicPr preferRelativeResize="0"/>
          <p:nvPr/>
        </p:nvPicPr>
        <p:blipFill rotWithShape="1">
          <a:blip r:embed="rId2">
            <a:alphaModFix/>
          </a:blip>
          <a:srcRect/>
          <a:stretch/>
        </p:blipFill>
        <p:spPr>
          <a:xfrm>
            <a:off x="10753200" y="5454000"/>
            <a:ext cx="1080000" cy="1080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hapter slide">
  <p:cSld name="Chapter slide">
    <p:spTree>
      <p:nvGrpSpPr>
        <p:cNvPr id="1" name="Shape 19"/>
        <p:cNvGrpSpPr/>
        <p:nvPr/>
      </p:nvGrpSpPr>
      <p:grpSpPr>
        <a:xfrm>
          <a:off x="0" y="0"/>
          <a:ext cx="0" cy="0"/>
          <a:chOff x="0" y="0"/>
          <a:chExt cx="0" cy="0"/>
        </a:xfrm>
      </p:grpSpPr>
      <p:sp>
        <p:nvSpPr>
          <p:cNvPr id="20" name="Google Shape;20;p81"/>
          <p:cNvSpPr txBox="1">
            <a:spLocks noGrp="1"/>
          </p:cNvSpPr>
          <p:nvPr>
            <p:ph type="body" idx="1"/>
          </p:nvPr>
        </p:nvSpPr>
        <p:spPr>
          <a:xfrm>
            <a:off x="838200" y="2176669"/>
            <a:ext cx="10515600" cy="400029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pic>
        <p:nvPicPr>
          <p:cNvPr id="24" name="Google Shape;24;p81" descr="Le Groupe IONIS renforce son leadership dans les formations tech avec la  reprise de Supinfo - Newsroom IONIS Group"/>
          <p:cNvPicPr preferRelativeResize="0"/>
          <p:nvPr/>
        </p:nvPicPr>
        <p:blipFill rotWithShape="1">
          <a:blip r:embed="rId2">
            <a:alphaModFix/>
          </a:blip>
          <a:srcRect/>
          <a:stretch/>
        </p:blipFill>
        <p:spPr>
          <a:xfrm>
            <a:off x="11245262" y="186359"/>
            <a:ext cx="757859" cy="757859"/>
          </a:xfrm>
          <a:prstGeom prst="rect">
            <a:avLst/>
          </a:prstGeom>
          <a:noFill/>
          <a:ln>
            <a:noFill/>
          </a:ln>
        </p:spPr>
      </p:pic>
      <p:sp>
        <p:nvSpPr>
          <p:cNvPr id="25" name="Google Shape;25;p81"/>
          <p:cNvSpPr txBox="1">
            <a:spLocks noGrp="1"/>
          </p:cNvSpPr>
          <p:nvPr>
            <p:ph type="body" idx="2"/>
          </p:nvPr>
        </p:nvSpPr>
        <p:spPr>
          <a:xfrm>
            <a:off x="838200" y="384352"/>
            <a:ext cx="10508974" cy="5692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marL="914400" lvl="1" indent="-431800" algn="l">
              <a:lnSpc>
                <a:spcPct val="90000"/>
              </a:lnSpc>
              <a:spcBef>
                <a:spcPts val="500"/>
              </a:spcBef>
              <a:spcAft>
                <a:spcPts val="0"/>
              </a:spcAft>
              <a:buClr>
                <a:schemeClr val="dk1"/>
              </a:buClr>
              <a:buSzPts val="3200"/>
              <a:buChar char="•"/>
              <a:defRPr sz="3200"/>
            </a:lvl2pPr>
            <a:lvl3pPr marL="1371600" lvl="2" indent="-406400" algn="l">
              <a:lnSpc>
                <a:spcPct val="90000"/>
              </a:lnSpc>
              <a:spcBef>
                <a:spcPts val="500"/>
              </a:spcBef>
              <a:spcAft>
                <a:spcPts val="0"/>
              </a:spcAft>
              <a:buClr>
                <a:schemeClr val="dk1"/>
              </a:buClr>
              <a:buSzPts val="2800"/>
              <a:buChar char="•"/>
              <a:defRPr sz="2800"/>
            </a:lvl3pPr>
            <a:lvl4pPr marL="1828800" lvl="3" indent="-381000" algn="l">
              <a:lnSpc>
                <a:spcPct val="90000"/>
              </a:lnSpc>
              <a:spcBef>
                <a:spcPts val="500"/>
              </a:spcBef>
              <a:spcAft>
                <a:spcPts val="0"/>
              </a:spcAft>
              <a:buClr>
                <a:schemeClr val="dk1"/>
              </a:buClr>
              <a:buSzPts val="2400"/>
              <a:buChar char="•"/>
              <a:defRPr sz="2400"/>
            </a:lvl4pPr>
            <a:lvl5pPr marL="2286000" lvl="4" indent="-381000" algn="l">
              <a:lnSpc>
                <a:spcPct val="90000"/>
              </a:lnSpc>
              <a:spcBef>
                <a:spcPts val="500"/>
              </a:spcBef>
              <a:spcAft>
                <a:spcPts val="0"/>
              </a:spcAft>
              <a:buClr>
                <a:schemeClr val="dk1"/>
              </a:buClr>
              <a:buSzPts val="2400"/>
              <a:buChar char="•"/>
              <a:defRPr sz="2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81"/>
          <p:cNvSpPr txBox="1">
            <a:spLocks noGrp="1"/>
          </p:cNvSpPr>
          <p:nvPr>
            <p:ph type="body" idx="3"/>
          </p:nvPr>
        </p:nvSpPr>
        <p:spPr>
          <a:xfrm>
            <a:off x="838200" y="1352782"/>
            <a:ext cx="10441597" cy="42473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2400"/>
              <a:buNone/>
              <a:defRPr sz="2400" b="1"/>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mmary">
  <p:cSld name="Summary">
    <p:bg>
      <p:bgPr>
        <a:solidFill>
          <a:srgbClr val="3D2683"/>
        </a:solidFill>
        <a:effectLst/>
      </p:bgPr>
    </p:bg>
    <p:spTree>
      <p:nvGrpSpPr>
        <p:cNvPr id="1" name="Shape 27"/>
        <p:cNvGrpSpPr/>
        <p:nvPr/>
      </p:nvGrpSpPr>
      <p:grpSpPr>
        <a:xfrm>
          <a:off x="0" y="0"/>
          <a:ext cx="0" cy="0"/>
          <a:chOff x="0" y="0"/>
          <a:chExt cx="0" cy="0"/>
        </a:xfrm>
      </p:grpSpPr>
      <p:pic>
        <p:nvPicPr>
          <p:cNvPr id="28" name="Google Shape;28;p82" descr="Menu avec un remplissage uni"/>
          <p:cNvPicPr preferRelativeResize="0"/>
          <p:nvPr/>
        </p:nvPicPr>
        <p:blipFill rotWithShape="1">
          <a:blip r:embed="rId2">
            <a:alphaModFix/>
          </a:blip>
          <a:srcRect/>
          <a:stretch/>
        </p:blipFill>
        <p:spPr>
          <a:xfrm>
            <a:off x="10440000" y="5040000"/>
            <a:ext cx="1080000" cy="1080000"/>
          </a:xfrm>
          <a:prstGeom prst="rect">
            <a:avLst/>
          </a:prstGeom>
          <a:noFill/>
          <a:ln>
            <a:noFill/>
          </a:ln>
        </p:spPr>
      </p:pic>
      <p:sp>
        <p:nvSpPr>
          <p:cNvPr id="29" name="Google Shape;29;p82"/>
          <p:cNvSpPr txBox="1">
            <a:spLocks noGrp="1"/>
          </p:cNvSpPr>
          <p:nvPr>
            <p:ph type="body" idx="1"/>
          </p:nvPr>
        </p:nvSpPr>
        <p:spPr>
          <a:xfrm>
            <a:off x="831850" y="396327"/>
            <a:ext cx="10688150" cy="9144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lt1"/>
              </a:buClr>
              <a:buSzPts val="3200"/>
              <a:buChar char="•"/>
              <a:defRPr sz="3200" i="1">
                <a:solidFill>
                  <a:schemeClr val="lt1"/>
                </a:solidFill>
                <a:latin typeface="Calibri"/>
                <a:ea typeface="Calibri"/>
                <a:cs typeface="Calibri"/>
                <a:sym typeface="Calibri"/>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sz="1800"/>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82"/>
          <p:cNvSpPr txBox="1">
            <a:spLocks noGrp="1"/>
          </p:cNvSpPr>
          <p:nvPr>
            <p:ph type="body" idx="2"/>
          </p:nvPr>
        </p:nvSpPr>
        <p:spPr>
          <a:xfrm>
            <a:off x="844550" y="2559496"/>
            <a:ext cx="10688150" cy="3560504"/>
          </a:xfrm>
          <a:prstGeom prst="rect">
            <a:avLst/>
          </a:prstGeom>
          <a:noFill/>
          <a:ln>
            <a:noFill/>
          </a:ln>
        </p:spPr>
        <p:txBody>
          <a:bodyPr spcFirstLastPara="1" wrap="square" lIns="91425" tIns="45700" rIns="91425" bIns="45700" anchor="t" anchorCtr="0">
            <a:normAutofit/>
          </a:bodyPr>
          <a:lstStyle>
            <a:lvl1pPr marL="457200" lvl="0" indent="-457200" algn="l">
              <a:lnSpc>
                <a:spcPct val="90000"/>
              </a:lnSpc>
              <a:spcBef>
                <a:spcPts val="1000"/>
              </a:spcBef>
              <a:spcAft>
                <a:spcPts val="0"/>
              </a:spcAft>
              <a:buClr>
                <a:schemeClr val="lt1"/>
              </a:buClr>
              <a:buSzPts val="3600"/>
              <a:buChar char="•"/>
              <a:defRPr sz="3600">
                <a:solidFill>
                  <a:schemeClr val="lt1"/>
                </a:solidFill>
                <a:latin typeface="Calibri"/>
                <a:ea typeface="Calibri"/>
                <a:cs typeface="Calibri"/>
                <a:sym typeface="Calibri"/>
              </a:defRPr>
            </a:lvl1pPr>
            <a:lvl2pPr marL="914400" lvl="1" indent="-342900" algn="l">
              <a:lnSpc>
                <a:spcPct val="90000"/>
              </a:lnSpc>
              <a:spcBef>
                <a:spcPts val="500"/>
              </a:spcBef>
              <a:spcAft>
                <a:spcPts val="0"/>
              </a:spcAft>
              <a:buClr>
                <a:schemeClr val="lt1"/>
              </a:buClr>
              <a:buSzPts val="1800"/>
              <a:buChar char="•"/>
              <a:defRPr sz="1800">
                <a:solidFill>
                  <a:schemeClr val="lt1"/>
                </a:solidFill>
              </a:defRPr>
            </a:lvl2pPr>
            <a:lvl3pPr marL="1371600" lvl="2" indent="-342900" algn="l">
              <a:lnSpc>
                <a:spcPct val="90000"/>
              </a:lnSpc>
              <a:spcBef>
                <a:spcPts val="500"/>
              </a:spcBef>
              <a:spcAft>
                <a:spcPts val="0"/>
              </a:spcAft>
              <a:buClr>
                <a:schemeClr val="lt1"/>
              </a:buClr>
              <a:buSzPts val="1800"/>
              <a:buChar char="•"/>
              <a:defRPr sz="1800">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hapter title">
  <p:cSld name="Chapter title">
    <p:bg>
      <p:bgPr>
        <a:solidFill>
          <a:srgbClr val="3D2683"/>
        </a:solidFill>
        <a:effectLst/>
      </p:bgPr>
    </p:bg>
    <p:spTree>
      <p:nvGrpSpPr>
        <p:cNvPr id="1" name="Shape 31"/>
        <p:cNvGrpSpPr/>
        <p:nvPr/>
      </p:nvGrpSpPr>
      <p:grpSpPr>
        <a:xfrm>
          <a:off x="0" y="0"/>
          <a:ext cx="0" cy="0"/>
          <a:chOff x="0" y="0"/>
          <a:chExt cx="0" cy="0"/>
        </a:xfrm>
      </p:grpSpPr>
      <p:sp>
        <p:nvSpPr>
          <p:cNvPr id="32" name="Google Shape;32;p83"/>
          <p:cNvSpPr txBox="1">
            <a:spLocks noGrp="1"/>
          </p:cNvSpPr>
          <p:nvPr>
            <p:ph type="body" idx="1"/>
          </p:nvPr>
        </p:nvSpPr>
        <p:spPr>
          <a:xfrm>
            <a:off x="844550" y="1786740"/>
            <a:ext cx="10515600" cy="28512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5400"/>
              <a:buNone/>
              <a:defRPr sz="5400">
                <a:solidFill>
                  <a:schemeClr val="lt1"/>
                </a:solidFill>
                <a:latin typeface="Calibri"/>
                <a:ea typeface="Calibri"/>
                <a:cs typeface="Calibri"/>
                <a:sym typeface="Calibri"/>
              </a:defRPr>
            </a:lvl1pPr>
            <a:lvl2pPr marL="914400" lvl="1" indent="-406400" algn="l">
              <a:lnSpc>
                <a:spcPct val="90000"/>
              </a:lnSpc>
              <a:spcBef>
                <a:spcPts val="500"/>
              </a:spcBef>
              <a:spcAft>
                <a:spcPts val="0"/>
              </a:spcAft>
              <a:buClr>
                <a:schemeClr val="lt1"/>
              </a:buClr>
              <a:buSzPts val="2800"/>
              <a:buChar char="•"/>
              <a:defRPr sz="2800">
                <a:solidFill>
                  <a:schemeClr val="lt1"/>
                </a:solidFill>
              </a:defRPr>
            </a:lvl2pPr>
            <a:lvl3pPr marL="1371600" lvl="2" indent="-342900" algn="l">
              <a:lnSpc>
                <a:spcPct val="90000"/>
              </a:lnSpc>
              <a:spcBef>
                <a:spcPts val="500"/>
              </a:spcBef>
              <a:spcAft>
                <a:spcPts val="0"/>
              </a:spcAft>
              <a:buClr>
                <a:schemeClr val="lt1"/>
              </a:buClr>
              <a:buSzPts val="1800"/>
              <a:buChar char="•"/>
              <a:defRPr sz="1800">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hapter questions">
  <p:cSld name="Chapter questions">
    <p:bg>
      <p:bgPr>
        <a:solidFill>
          <a:srgbClr val="3D2683"/>
        </a:solidFill>
        <a:effectLst/>
      </p:bgPr>
    </p:bg>
    <p:spTree>
      <p:nvGrpSpPr>
        <p:cNvPr id="1" name="Shape 33"/>
        <p:cNvGrpSpPr/>
        <p:nvPr/>
      </p:nvGrpSpPr>
      <p:grpSpPr>
        <a:xfrm>
          <a:off x="0" y="0"/>
          <a:ext cx="0" cy="0"/>
          <a:chOff x="0" y="0"/>
          <a:chExt cx="0" cy="0"/>
        </a:xfrm>
      </p:grpSpPr>
      <p:pic>
        <p:nvPicPr>
          <p:cNvPr id="34" name="Google Shape;34;p86" descr="Questions avec un remplissage uni"/>
          <p:cNvPicPr preferRelativeResize="0"/>
          <p:nvPr/>
        </p:nvPicPr>
        <p:blipFill rotWithShape="1">
          <a:blip r:embed="rId2">
            <a:alphaModFix/>
          </a:blip>
          <a:srcRect/>
          <a:stretch/>
        </p:blipFill>
        <p:spPr>
          <a:xfrm>
            <a:off x="4656000" y="1989000"/>
            <a:ext cx="2880000" cy="2880000"/>
          </a:xfrm>
          <a:prstGeom prst="rect">
            <a:avLst/>
          </a:prstGeom>
          <a:noFill/>
          <a:ln>
            <a:noFill/>
          </a:ln>
        </p:spPr>
      </p:pic>
      <p:sp>
        <p:nvSpPr>
          <p:cNvPr id="35" name="Google Shape;35;p86"/>
          <p:cNvSpPr txBox="1">
            <a:spLocks noGrp="1"/>
          </p:cNvSpPr>
          <p:nvPr>
            <p:ph type="body" idx="1"/>
          </p:nvPr>
        </p:nvSpPr>
        <p:spPr>
          <a:xfrm>
            <a:off x="838199" y="365126"/>
            <a:ext cx="10515599" cy="57909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lt1"/>
              </a:buClr>
              <a:buSzPts val="3200"/>
              <a:buChar char="•"/>
              <a:defRPr sz="3200">
                <a:solidFill>
                  <a:schemeClr val="lt1"/>
                </a:solidFill>
                <a:latin typeface="Calibri"/>
                <a:ea typeface="Calibri"/>
                <a:cs typeface="Calibri"/>
                <a:sym typeface="Calibri"/>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ecture end">
  <p:cSld name="Lecture end">
    <p:bg>
      <p:bgPr>
        <a:solidFill>
          <a:srgbClr val="3D2683"/>
        </a:solidFill>
        <a:effectLst/>
      </p:bgPr>
    </p:bg>
    <p:spTree>
      <p:nvGrpSpPr>
        <p:cNvPr id="1" name="Shape 36"/>
        <p:cNvGrpSpPr/>
        <p:nvPr/>
      </p:nvGrpSpPr>
      <p:grpSpPr>
        <a:xfrm>
          <a:off x="0" y="0"/>
          <a:ext cx="0" cy="0"/>
          <a:chOff x="0" y="0"/>
          <a:chExt cx="0" cy="0"/>
        </a:xfrm>
      </p:grpSpPr>
      <p:pic>
        <p:nvPicPr>
          <p:cNvPr id="37" name="Google Shape;37;p87" descr="Drapeau de course avec un remplissage uni"/>
          <p:cNvPicPr preferRelativeResize="0"/>
          <p:nvPr/>
        </p:nvPicPr>
        <p:blipFill rotWithShape="1">
          <a:blip r:embed="rId2">
            <a:alphaModFix/>
          </a:blip>
          <a:srcRect/>
          <a:stretch/>
        </p:blipFill>
        <p:spPr>
          <a:xfrm>
            <a:off x="4656000" y="1989000"/>
            <a:ext cx="2880000" cy="2880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hapter slide - Side image">
  <p:cSld name="Chapter slide - Side image">
    <p:spTree>
      <p:nvGrpSpPr>
        <p:cNvPr id="1" name="Shape 38"/>
        <p:cNvGrpSpPr/>
        <p:nvPr/>
      </p:nvGrpSpPr>
      <p:grpSpPr>
        <a:xfrm>
          <a:off x="0" y="0"/>
          <a:ext cx="0" cy="0"/>
          <a:chOff x="0" y="0"/>
          <a:chExt cx="0" cy="0"/>
        </a:xfrm>
      </p:grpSpPr>
      <p:sp>
        <p:nvSpPr>
          <p:cNvPr id="39" name="Google Shape;39;p90"/>
          <p:cNvSpPr>
            <a:spLocks noGrp="1"/>
          </p:cNvSpPr>
          <p:nvPr>
            <p:ph type="pic" idx="2"/>
          </p:nvPr>
        </p:nvSpPr>
        <p:spPr>
          <a:xfrm>
            <a:off x="5183188" y="987425"/>
            <a:ext cx="6172200" cy="4873625"/>
          </a:xfrm>
          <a:prstGeom prst="rect">
            <a:avLst/>
          </a:prstGeom>
          <a:noFill/>
          <a:ln>
            <a:noFill/>
          </a:ln>
        </p:spPr>
      </p:sp>
      <p:sp>
        <p:nvSpPr>
          <p:cNvPr id="40" name="Google Shape;40;p9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1" name="Google Shape;41;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pic>
        <p:nvPicPr>
          <p:cNvPr id="44" name="Google Shape;44;p90" descr="Le Groupe IONIS renforce son leadership dans les formations tech avec la  reprise de Supinfo - Newsroom IONIS Group"/>
          <p:cNvPicPr preferRelativeResize="0"/>
          <p:nvPr/>
        </p:nvPicPr>
        <p:blipFill rotWithShape="1">
          <a:blip r:embed="rId2">
            <a:alphaModFix/>
          </a:blip>
          <a:srcRect/>
          <a:stretch/>
        </p:blipFill>
        <p:spPr>
          <a:xfrm>
            <a:off x="11245262" y="186359"/>
            <a:ext cx="757859" cy="757859"/>
          </a:xfrm>
          <a:prstGeom prst="rect">
            <a:avLst/>
          </a:prstGeom>
          <a:noFill/>
          <a:ln>
            <a:noFill/>
          </a:ln>
        </p:spPr>
      </p:pic>
      <p:sp>
        <p:nvSpPr>
          <p:cNvPr id="45" name="Google Shape;45;p90"/>
          <p:cNvSpPr txBox="1">
            <a:spLocks noGrp="1"/>
          </p:cNvSpPr>
          <p:nvPr>
            <p:ph type="body" idx="3"/>
          </p:nvPr>
        </p:nvSpPr>
        <p:spPr>
          <a:xfrm>
            <a:off x="838200" y="384352"/>
            <a:ext cx="3957611" cy="5692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marL="914400" lvl="1" indent="-431800" algn="l">
              <a:lnSpc>
                <a:spcPct val="90000"/>
              </a:lnSpc>
              <a:spcBef>
                <a:spcPts val="500"/>
              </a:spcBef>
              <a:spcAft>
                <a:spcPts val="0"/>
              </a:spcAft>
              <a:buClr>
                <a:schemeClr val="dk1"/>
              </a:buClr>
              <a:buSzPts val="3200"/>
              <a:buChar char="•"/>
              <a:defRPr sz="3200"/>
            </a:lvl2pPr>
            <a:lvl3pPr marL="1371600" lvl="2" indent="-406400" algn="l">
              <a:lnSpc>
                <a:spcPct val="90000"/>
              </a:lnSpc>
              <a:spcBef>
                <a:spcPts val="500"/>
              </a:spcBef>
              <a:spcAft>
                <a:spcPts val="0"/>
              </a:spcAft>
              <a:buClr>
                <a:schemeClr val="dk1"/>
              </a:buClr>
              <a:buSzPts val="2800"/>
              <a:buChar char="•"/>
              <a:defRPr sz="2800"/>
            </a:lvl3pPr>
            <a:lvl4pPr marL="1828800" lvl="3" indent="-381000" algn="l">
              <a:lnSpc>
                <a:spcPct val="90000"/>
              </a:lnSpc>
              <a:spcBef>
                <a:spcPts val="500"/>
              </a:spcBef>
              <a:spcAft>
                <a:spcPts val="0"/>
              </a:spcAft>
              <a:buClr>
                <a:schemeClr val="dk1"/>
              </a:buClr>
              <a:buSzPts val="2400"/>
              <a:buChar char="•"/>
              <a:defRPr sz="2400"/>
            </a:lvl4pPr>
            <a:lvl5pPr marL="2286000" lvl="4" indent="-381000" algn="l">
              <a:lnSpc>
                <a:spcPct val="90000"/>
              </a:lnSpc>
              <a:spcBef>
                <a:spcPts val="500"/>
              </a:spcBef>
              <a:spcAft>
                <a:spcPts val="0"/>
              </a:spcAft>
              <a:buClr>
                <a:schemeClr val="dk1"/>
              </a:buClr>
              <a:buSzPts val="2400"/>
              <a:buChar char="•"/>
              <a:defRPr sz="2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0"/>
          <p:cNvSpPr txBox="1">
            <a:spLocks noGrp="1"/>
          </p:cNvSpPr>
          <p:nvPr>
            <p:ph type="body" idx="4"/>
          </p:nvPr>
        </p:nvSpPr>
        <p:spPr>
          <a:xfrm>
            <a:off x="838200" y="1352782"/>
            <a:ext cx="3932237" cy="42473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2400"/>
              <a:buNone/>
              <a:defRPr sz="2400" b="1"/>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hapter slide - two columns">
  <p:cSld name="Chapter slide - two columns">
    <p:spTree>
      <p:nvGrpSpPr>
        <p:cNvPr id="1" name="Shape 47"/>
        <p:cNvGrpSpPr/>
        <p:nvPr/>
      </p:nvGrpSpPr>
      <p:grpSpPr>
        <a:xfrm>
          <a:off x="0" y="0"/>
          <a:ext cx="0" cy="0"/>
          <a:chOff x="0" y="0"/>
          <a:chExt cx="0" cy="0"/>
        </a:xfrm>
      </p:grpSpPr>
      <p:sp>
        <p:nvSpPr>
          <p:cNvPr id="48" name="Google Shape;48;p84"/>
          <p:cNvSpPr txBox="1">
            <a:spLocks noGrp="1"/>
          </p:cNvSpPr>
          <p:nvPr>
            <p:ph type="body" idx="1"/>
          </p:nvPr>
        </p:nvSpPr>
        <p:spPr>
          <a:xfrm>
            <a:off x="838200" y="2176669"/>
            <a:ext cx="5181600" cy="400029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4"/>
          <p:cNvSpPr txBox="1">
            <a:spLocks noGrp="1"/>
          </p:cNvSpPr>
          <p:nvPr>
            <p:ph type="body" idx="2"/>
          </p:nvPr>
        </p:nvSpPr>
        <p:spPr>
          <a:xfrm>
            <a:off x="6172200" y="2176667"/>
            <a:ext cx="5181600" cy="400029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pic>
        <p:nvPicPr>
          <p:cNvPr id="53" name="Google Shape;53;p84" descr="Le Groupe IONIS renforce son leadership dans les formations tech avec la  reprise de Supinfo - Newsroom IONIS Group"/>
          <p:cNvPicPr preferRelativeResize="0"/>
          <p:nvPr/>
        </p:nvPicPr>
        <p:blipFill rotWithShape="1">
          <a:blip r:embed="rId2">
            <a:alphaModFix/>
          </a:blip>
          <a:srcRect/>
          <a:stretch/>
        </p:blipFill>
        <p:spPr>
          <a:xfrm>
            <a:off x="11245262" y="186359"/>
            <a:ext cx="757859" cy="757859"/>
          </a:xfrm>
          <a:prstGeom prst="rect">
            <a:avLst/>
          </a:prstGeom>
          <a:noFill/>
          <a:ln>
            <a:noFill/>
          </a:ln>
        </p:spPr>
      </p:pic>
      <p:sp>
        <p:nvSpPr>
          <p:cNvPr id="54" name="Google Shape;54;p84"/>
          <p:cNvSpPr txBox="1">
            <a:spLocks noGrp="1"/>
          </p:cNvSpPr>
          <p:nvPr>
            <p:ph type="body" idx="3"/>
          </p:nvPr>
        </p:nvSpPr>
        <p:spPr>
          <a:xfrm>
            <a:off x="838200" y="384352"/>
            <a:ext cx="10508974" cy="5692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marL="914400" lvl="1" indent="-431800" algn="l">
              <a:lnSpc>
                <a:spcPct val="90000"/>
              </a:lnSpc>
              <a:spcBef>
                <a:spcPts val="500"/>
              </a:spcBef>
              <a:spcAft>
                <a:spcPts val="0"/>
              </a:spcAft>
              <a:buClr>
                <a:schemeClr val="dk1"/>
              </a:buClr>
              <a:buSzPts val="3200"/>
              <a:buChar char="•"/>
              <a:defRPr sz="3200"/>
            </a:lvl2pPr>
            <a:lvl3pPr marL="1371600" lvl="2" indent="-406400" algn="l">
              <a:lnSpc>
                <a:spcPct val="90000"/>
              </a:lnSpc>
              <a:spcBef>
                <a:spcPts val="500"/>
              </a:spcBef>
              <a:spcAft>
                <a:spcPts val="0"/>
              </a:spcAft>
              <a:buClr>
                <a:schemeClr val="dk1"/>
              </a:buClr>
              <a:buSzPts val="2800"/>
              <a:buChar char="•"/>
              <a:defRPr sz="2800"/>
            </a:lvl3pPr>
            <a:lvl4pPr marL="1828800" lvl="3" indent="-381000" algn="l">
              <a:lnSpc>
                <a:spcPct val="90000"/>
              </a:lnSpc>
              <a:spcBef>
                <a:spcPts val="500"/>
              </a:spcBef>
              <a:spcAft>
                <a:spcPts val="0"/>
              </a:spcAft>
              <a:buClr>
                <a:schemeClr val="dk1"/>
              </a:buClr>
              <a:buSzPts val="2400"/>
              <a:buChar char="•"/>
              <a:defRPr sz="2400"/>
            </a:lvl4pPr>
            <a:lvl5pPr marL="2286000" lvl="4" indent="-381000" algn="l">
              <a:lnSpc>
                <a:spcPct val="90000"/>
              </a:lnSpc>
              <a:spcBef>
                <a:spcPts val="500"/>
              </a:spcBef>
              <a:spcAft>
                <a:spcPts val="0"/>
              </a:spcAft>
              <a:buClr>
                <a:schemeClr val="dk1"/>
              </a:buClr>
              <a:buSzPts val="2400"/>
              <a:buChar char="•"/>
              <a:defRPr sz="2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84"/>
          <p:cNvSpPr txBox="1">
            <a:spLocks noGrp="1"/>
          </p:cNvSpPr>
          <p:nvPr>
            <p:ph type="body" idx="4"/>
          </p:nvPr>
        </p:nvSpPr>
        <p:spPr>
          <a:xfrm>
            <a:off x="838200" y="1352782"/>
            <a:ext cx="10441597" cy="42473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2400"/>
              <a:buNone/>
              <a:defRPr sz="2400" b="1"/>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hapter slide - Side contents">
  <p:cSld name="Chapter slide - Side contents">
    <p:spTree>
      <p:nvGrpSpPr>
        <p:cNvPr id="1" name="Shape 56"/>
        <p:cNvGrpSpPr/>
        <p:nvPr/>
      </p:nvGrpSpPr>
      <p:grpSpPr>
        <a:xfrm>
          <a:off x="0" y="0"/>
          <a:ext cx="0" cy="0"/>
          <a:chOff x="0" y="0"/>
          <a:chExt cx="0" cy="0"/>
        </a:xfrm>
      </p:grpSpPr>
      <p:sp>
        <p:nvSpPr>
          <p:cNvPr id="57" name="Google Shape;57;p8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8" name="Google Shape;58;p8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pic>
        <p:nvPicPr>
          <p:cNvPr id="62" name="Google Shape;62;p85" descr="Le Groupe IONIS renforce son leadership dans les formations tech avec la  reprise de Supinfo - Newsroom IONIS Group"/>
          <p:cNvPicPr preferRelativeResize="0"/>
          <p:nvPr/>
        </p:nvPicPr>
        <p:blipFill rotWithShape="1">
          <a:blip r:embed="rId2">
            <a:alphaModFix/>
          </a:blip>
          <a:srcRect/>
          <a:stretch/>
        </p:blipFill>
        <p:spPr>
          <a:xfrm>
            <a:off x="11245262" y="186359"/>
            <a:ext cx="757859" cy="757859"/>
          </a:xfrm>
          <a:prstGeom prst="rect">
            <a:avLst/>
          </a:prstGeom>
          <a:noFill/>
          <a:ln>
            <a:noFill/>
          </a:ln>
        </p:spPr>
      </p:pic>
      <p:sp>
        <p:nvSpPr>
          <p:cNvPr id="63" name="Google Shape;63;p85"/>
          <p:cNvSpPr txBox="1">
            <a:spLocks noGrp="1"/>
          </p:cNvSpPr>
          <p:nvPr>
            <p:ph type="body" idx="3"/>
          </p:nvPr>
        </p:nvSpPr>
        <p:spPr>
          <a:xfrm>
            <a:off x="838200" y="384352"/>
            <a:ext cx="3957611" cy="5692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marL="914400" lvl="1" indent="-431800" algn="l">
              <a:lnSpc>
                <a:spcPct val="90000"/>
              </a:lnSpc>
              <a:spcBef>
                <a:spcPts val="500"/>
              </a:spcBef>
              <a:spcAft>
                <a:spcPts val="0"/>
              </a:spcAft>
              <a:buClr>
                <a:schemeClr val="dk1"/>
              </a:buClr>
              <a:buSzPts val="3200"/>
              <a:buChar char="•"/>
              <a:defRPr sz="3200"/>
            </a:lvl2pPr>
            <a:lvl3pPr marL="1371600" lvl="2" indent="-406400" algn="l">
              <a:lnSpc>
                <a:spcPct val="90000"/>
              </a:lnSpc>
              <a:spcBef>
                <a:spcPts val="500"/>
              </a:spcBef>
              <a:spcAft>
                <a:spcPts val="0"/>
              </a:spcAft>
              <a:buClr>
                <a:schemeClr val="dk1"/>
              </a:buClr>
              <a:buSzPts val="2800"/>
              <a:buChar char="•"/>
              <a:defRPr sz="2800"/>
            </a:lvl3pPr>
            <a:lvl4pPr marL="1828800" lvl="3" indent="-381000" algn="l">
              <a:lnSpc>
                <a:spcPct val="90000"/>
              </a:lnSpc>
              <a:spcBef>
                <a:spcPts val="500"/>
              </a:spcBef>
              <a:spcAft>
                <a:spcPts val="0"/>
              </a:spcAft>
              <a:buClr>
                <a:schemeClr val="dk1"/>
              </a:buClr>
              <a:buSzPts val="2400"/>
              <a:buChar char="•"/>
              <a:defRPr sz="2400"/>
            </a:lvl4pPr>
            <a:lvl5pPr marL="2286000" lvl="4" indent="-381000" algn="l">
              <a:lnSpc>
                <a:spcPct val="90000"/>
              </a:lnSpc>
              <a:spcBef>
                <a:spcPts val="500"/>
              </a:spcBef>
              <a:spcAft>
                <a:spcPts val="0"/>
              </a:spcAft>
              <a:buClr>
                <a:schemeClr val="dk1"/>
              </a:buClr>
              <a:buSzPts val="2400"/>
              <a:buChar char="•"/>
              <a:defRPr sz="2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85"/>
          <p:cNvSpPr txBox="1">
            <a:spLocks noGrp="1"/>
          </p:cNvSpPr>
          <p:nvPr>
            <p:ph type="body" idx="4"/>
          </p:nvPr>
        </p:nvSpPr>
        <p:spPr>
          <a:xfrm>
            <a:off x="838200" y="1352782"/>
            <a:ext cx="3932237" cy="42473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2400"/>
              <a:buNone/>
              <a:defRPr sz="2400" b="1"/>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hapter slide - empty">
  <p:cSld name="Chapter slide - empty">
    <p:spTree>
      <p:nvGrpSpPr>
        <p:cNvPr id="1" name="Shape 65"/>
        <p:cNvGrpSpPr/>
        <p:nvPr/>
      </p:nvGrpSpPr>
      <p:grpSpPr>
        <a:xfrm>
          <a:off x="0" y="0"/>
          <a:ext cx="0" cy="0"/>
          <a:chOff x="0" y="0"/>
          <a:chExt cx="0" cy="0"/>
        </a:xfrm>
      </p:grpSpPr>
      <p:sp>
        <p:nvSpPr>
          <p:cNvPr id="66" name="Google Shape;66;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pic>
        <p:nvPicPr>
          <p:cNvPr id="69" name="Google Shape;69;p88" descr="Le Groupe IONIS renforce son leadership dans les formations tech avec la  reprise de Supinfo - Newsroom IONIS Group"/>
          <p:cNvPicPr preferRelativeResize="0"/>
          <p:nvPr/>
        </p:nvPicPr>
        <p:blipFill rotWithShape="1">
          <a:blip r:embed="rId2">
            <a:alphaModFix/>
          </a:blip>
          <a:srcRect/>
          <a:stretch/>
        </p:blipFill>
        <p:spPr>
          <a:xfrm>
            <a:off x="11245262" y="186359"/>
            <a:ext cx="757859" cy="757859"/>
          </a:xfrm>
          <a:prstGeom prst="rect">
            <a:avLst/>
          </a:prstGeom>
          <a:noFill/>
          <a:ln>
            <a:noFill/>
          </a:ln>
        </p:spPr>
      </p:pic>
      <p:sp>
        <p:nvSpPr>
          <p:cNvPr id="70" name="Google Shape;70;p88"/>
          <p:cNvSpPr txBox="1">
            <a:spLocks noGrp="1"/>
          </p:cNvSpPr>
          <p:nvPr>
            <p:ph type="body" idx="1"/>
          </p:nvPr>
        </p:nvSpPr>
        <p:spPr>
          <a:xfrm>
            <a:off x="838200" y="384352"/>
            <a:ext cx="10508974" cy="5692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marL="914400" lvl="1" indent="-431800" algn="l">
              <a:lnSpc>
                <a:spcPct val="90000"/>
              </a:lnSpc>
              <a:spcBef>
                <a:spcPts val="500"/>
              </a:spcBef>
              <a:spcAft>
                <a:spcPts val="0"/>
              </a:spcAft>
              <a:buClr>
                <a:schemeClr val="dk1"/>
              </a:buClr>
              <a:buSzPts val="3200"/>
              <a:buChar char="•"/>
              <a:defRPr sz="3200"/>
            </a:lvl2pPr>
            <a:lvl3pPr marL="1371600" lvl="2" indent="-406400" algn="l">
              <a:lnSpc>
                <a:spcPct val="90000"/>
              </a:lnSpc>
              <a:spcBef>
                <a:spcPts val="500"/>
              </a:spcBef>
              <a:spcAft>
                <a:spcPts val="0"/>
              </a:spcAft>
              <a:buClr>
                <a:schemeClr val="dk1"/>
              </a:buClr>
              <a:buSzPts val="2800"/>
              <a:buChar char="•"/>
              <a:defRPr sz="2800"/>
            </a:lvl3pPr>
            <a:lvl4pPr marL="1828800" lvl="3" indent="-381000" algn="l">
              <a:lnSpc>
                <a:spcPct val="90000"/>
              </a:lnSpc>
              <a:spcBef>
                <a:spcPts val="500"/>
              </a:spcBef>
              <a:spcAft>
                <a:spcPts val="0"/>
              </a:spcAft>
              <a:buClr>
                <a:schemeClr val="dk1"/>
              </a:buClr>
              <a:buSzPts val="2400"/>
              <a:buChar char="•"/>
              <a:defRPr sz="2400"/>
            </a:lvl4pPr>
            <a:lvl5pPr marL="2286000" lvl="4" indent="-381000" algn="l">
              <a:lnSpc>
                <a:spcPct val="90000"/>
              </a:lnSpc>
              <a:spcBef>
                <a:spcPts val="500"/>
              </a:spcBef>
              <a:spcAft>
                <a:spcPts val="0"/>
              </a:spcAft>
              <a:buClr>
                <a:schemeClr val="dk1"/>
              </a:buClr>
              <a:buSzPts val="2400"/>
              <a:buChar char="•"/>
              <a:defRPr sz="2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88"/>
          <p:cNvSpPr txBox="1">
            <a:spLocks noGrp="1"/>
          </p:cNvSpPr>
          <p:nvPr>
            <p:ph type="body" idx="2"/>
          </p:nvPr>
        </p:nvSpPr>
        <p:spPr>
          <a:xfrm>
            <a:off x="838200" y="1352782"/>
            <a:ext cx="10441597" cy="424732"/>
          </a:xfrm>
          <a:prstGeom prst="rect">
            <a:avLst/>
          </a:prstGeom>
          <a:noFill/>
          <a:ln>
            <a:noFill/>
          </a:ln>
        </p:spPr>
        <p:txBody>
          <a:bodyPr spcFirstLastPara="1" wrap="square" lIns="91425" tIns="45700" rIns="91425" bIns="45700" anchor="t" anchorCtr="0">
            <a:spAutoFit/>
          </a:bodyPr>
          <a:lstStyle>
            <a:lvl1pPr marL="457200" lvl="0" indent="-228600" algn="l">
              <a:lnSpc>
                <a:spcPct val="90000"/>
              </a:lnSpc>
              <a:spcBef>
                <a:spcPts val="1000"/>
              </a:spcBef>
              <a:spcAft>
                <a:spcPts val="0"/>
              </a:spcAft>
              <a:buClr>
                <a:schemeClr val="dk1"/>
              </a:buClr>
              <a:buSzPts val="2400"/>
              <a:buNone/>
              <a:defRPr sz="2400" b="1"/>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mpty" type="blank">
  <p:cSld name="BLANK">
    <p:spTree>
      <p:nvGrpSpPr>
        <p:cNvPr id="1" name="Shape 72"/>
        <p:cNvGrpSpPr/>
        <p:nvPr/>
      </p:nvGrpSpPr>
      <p:grpSpPr>
        <a:xfrm>
          <a:off x="0" y="0"/>
          <a:ext cx="0" cy="0"/>
          <a:chOff x="0" y="0"/>
          <a:chExt cx="0" cy="0"/>
        </a:xfrm>
      </p:grpSpPr>
      <p:sp>
        <p:nvSpPr>
          <p:cNvPr id="73" name="Google Shape;73;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pic>
        <p:nvPicPr>
          <p:cNvPr id="76" name="Google Shape;76;p89" descr="Le Groupe IONIS renforce son leadership dans les formations tech avec la  reprise de Supinfo - Newsroom IONIS Group"/>
          <p:cNvPicPr preferRelativeResize="0"/>
          <p:nvPr/>
        </p:nvPicPr>
        <p:blipFill rotWithShape="1">
          <a:blip r:embed="rId2">
            <a:alphaModFix/>
          </a:blip>
          <a:srcRect/>
          <a:stretch/>
        </p:blipFill>
        <p:spPr>
          <a:xfrm>
            <a:off x="11245262" y="186359"/>
            <a:ext cx="757859" cy="7578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6000"/>
              <a:buFont typeface="Calibri"/>
              <a:buNone/>
            </a:pPr>
            <a:r>
              <a:rPr lang="en-US"/>
              <a:t>Introduction</a:t>
            </a:r>
            <a:endParaRPr/>
          </a:p>
        </p:txBody>
      </p:sp>
      <p:sp>
        <p:nvSpPr>
          <p:cNvPr id="83" name="Google Shape;83;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2400"/>
              <a:buNone/>
            </a:pPr>
            <a:r>
              <a:rPr lang="en-US"/>
              <a:t>4HYBD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body" idx="1"/>
          </p:nvPr>
        </p:nvSpPr>
        <p:spPr>
          <a:xfrm>
            <a:off x="838200" y="2176669"/>
            <a:ext cx="10515600" cy="400029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dirty="0"/>
              <a:t>By the end of the course, students should:</a:t>
            </a:r>
            <a:endParaRPr dirty="0"/>
          </a:p>
          <a:p>
            <a:pPr marL="457200" lvl="0" indent="-342900" algn="l" rtl="0">
              <a:lnSpc>
                <a:spcPct val="90000"/>
              </a:lnSpc>
              <a:spcBef>
                <a:spcPts val="0"/>
              </a:spcBef>
              <a:spcAft>
                <a:spcPts val="0"/>
              </a:spcAft>
              <a:buSzPts val="1800"/>
              <a:buChar char="•"/>
            </a:pPr>
            <a:r>
              <a:rPr lang="en-US" dirty="0"/>
              <a:t>Know about mobile application</a:t>
            </a:r>
            <a:endParaRPr dirty="0"/>
          </a:p>
          <a:p>
            <a:pPr marL="457200" lvl="0" indent="-342900" algn="l" rtl="0">
              <a:lnSpc>
                <a:spcPct val="90000"/>
              </a:lnSpc>
              <a:spcBef>
                <a:spcPts val="0"/>
              </a:spcBef>
              <a:spcAft>
                <a:spcPts val="0"/>
              </a:spcAft>
              <a:buSzPts val="1800"/>
              <a:buChar char="•"/>
            </a:pPr>
            <a:r>
              <a:rPr lang="en-US" dirty="0"/>
              <a:t>Choose the best tool for mobile apps</a:t>
            </a:r>
            <a:endParaRPr dirty="0"/>
          </a:p>
          <a:p>
            <a:pPr marL="457200" lvl="0" indent="-342900" algn="l" rtl="0">
              <a:lnSpc>
                <a:spcPct val="90000"/>
              </a:lnSpc>
              <a:spcBef>
                <a:spcPts val="0"/>
              </a:spcBef>
              <a:spcAft>
                <a:spcPts val="0"/>
              </a:spcAft>
              <a:buSzPts val="1800"/>
              <a:buChar char="•"/>
            </a:pPr>
            <a:r>
              <a:rPr lang="en-US" dirty="0"/>
              <a:t>Be aware about hybrid apps</a:t>
            </a:r>
            <a:endParaRPr dirty="0"/>
          </a:p>
        </p:txBody>
      </p:sp>
      <p:sp>
        <p:nvSpPr>
          <p:cNvPr id="90" name="Google Shape;90;p2"/>
          <p:cNvSpPr txBox="1">
            <a:spLocks noGrp="1"/>
          </p:cNvSpPr>
          <p:nvPr>
            <p:ph type="body" idx="2"/>
          </p:nvPr>
        </p:nvSpPr>
        <p:spPr>
          <a:xfrm>
            <a:off x="838200" y="384352"/>
            <a:ext cx="10508974" cy="5692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4HYBD – Introduction</a:t>
            </a:r>
            <a:endParaRPr/>
          </a:p>
        </p:txBody>
      </p:sp>
      <p:sp>
        <p:nvSpPr>
          <p:cNvPr id="91" name="Google Shape;91;p2"/>
          <p:cNvSpPr txBox="1">
            <a:spLocks noGrp="1"/>
          </p:cNvSpPr>
          <p:nvPr>
            <p:ph type="body" idx="3"/>
          </p:nvPr>
        </p:nvSpPr>
        <p:spPr>
          <a:xfrm>
            <a:off x="838200" y="1352782"/>
            <a:ext cx="10441597" cy="42473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dk1"/>
              </a:buClr>
              <a:buSzPts val="2400"/>
              <a:buNone/>
            </a:pPr>
            <a:r>
              <a:rPr lang="en-US"/>
              <a:t>Course Objectives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7"/>
          <p:cNvSpPr txBox="1">
            <a:spLocks noGrp="1"/>
          </p:cNvSpPr>
          <p:nvPr>
            <p:ph type="body" idx="1"/>
          </p:nvPr>
        </p:nvSpPr>
        <p:spPr>
          <a:xfrm>
            <a:off x="831850" y="396327"/>
            <a:ext cx="10688150" cy="9144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3200"/>
              <a:buNone/>
            </a:pPr>
            <a:r>
              <a:rPr lang="en-US"/>
              <a:t>Summary</a:t>
            </a:r>
            <a:endParaRPr/>
          </a:p>
        </p:txBody>
      </p:sp>
      <p:sp>
        <p:nvSpPr>
          <p:cNvPr id="98" name="Google Shape;98;p7"/>
          <p:cNvSpPr txBox="1">
            <a:spLocks noGrp="1"/>
          </p:cNvSpPr>
          <p:nvPr>
            <p:ph type="body" idx="2"/>
          </p:nvPr>
        </p:nvSpPr>
        <p:spPr>
          <a:xfrm>
            <a:off x="844550" y="2559496"/>
            <a:ext cx="10688150" cy="3560504"/>
          </a:xfrm>
          <a:prstGeom prst="rect">
            <a:avLst/>
          </a:prstGeom>
          <a:noFill/>
          <a:ln>
            <a:noFill/>
          </a:ln>
        </p:spPr>
        <p:txBody>
          <a:bodyPr spcFirstLastPara="1" wrap="square" lIns="91425" tIns="45700" rIns="91425" bIns="45700" anchor="t" anchorCtr="0">
            <a:normAutofit/>
          </a:bodyPr>
          <a:lstStyle/>
          <a:p>
            <a:pPr marL="742950" lvl="0" indent="-742950" algn="l" rtl="0">
              <a:lnSpc>
                <a:spcPct val="90000"/>
              </a:lnSpc>
              <a:spcBef>
                <a:spcPts val="0"/>
              </a:spcBef>
              <a:spcAft>
                <a:spcPts val="0"/>
              </a:spcAft>
              <a:buClr>
                <a:schemeClr val="lt1"/>
              </a:buClr>
              <a:buSzPts val="3600"/>
              <a:buFont typeface="Calibri"/>
              <a:buAutoNum type="arabicPeriod"/>
            </a:pPr>
            <a:r>
              <a:rPr lang="en-US"/>
              <a:t>Discussion</a:t>
            </a:r>
            <a:endParaRPr/>
          </a:p>
          <a:p>
            <a:pPr marL="742950" lvl="0" indent="-742950" algn="l" rtl="0">
              <a:lnSpc>
                <a:spcPct val="90000"/>
              </a:lnSpc>
              <a:spcBef>
                <a:spcPts val="0"/>
              </a:spcBef>
              <a:spcAft>
                <a:spcPts val="0"/>
              </a:spcAft>
              <a:buSzPts val="3600"/>
              <a:buAutoNum type="arabicPeriod"/>
            </a:pPr>
            <a:r>
              <a:rPr lang="en-US"/>
              <a:t>Hybrid apps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8"/>
          <p:cNvSpPr txBox="1">
            <a:spLocks noGrp="1"/>
          </p:cNvSpPr>
          <p:nvPr>
            <p:ph type="body" idx="1"/>
          </p:nvPr>
        </p:nvSpPr>
        <p:spPr>
          <a:xfrm>
            <a:off x="844550" y="1786740"/>
            <a:ext cx="10515600" cy="2851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5400"/>
              <a:buNone/>
            </a:pPr>
            <a:r>
              <a:rPr lang="en-US"/>
              <a:t>1. Discussion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2c136d33009_1_24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During all the previous years, you have seen how to build website but also native mobile applications using various technologies.</a:t>
            </a:r>
            <a:endParaRPr/>
          </a:p>
          <a:p>
            <a:pPr marL="0" lvl="0" indent="0" algn="l" rtl="0">
              <a:lnSpc>
                <a:spcPct val="90000"/>
              </a:lnSpc>
              <a:spcBef>
                <a:spcPts val="0"/>
              </a:spcBef>
              <a:spcAft>
                <a:spcPts val="0"/>
              </a:spcAft>
              <a:buSzPts val="1800"/>
              <a:buNone/>
            </a:pPr>
            <a:endParaRPr/>
          </a:p>
          <a:p>
            <a:pPr marL="0" lvl="0" indent="0" algn="l" rtl="0">
              <a:lnSpc>
                <a:spcPct val="90000"/>
              </a:lnSpc>
              <a:spcBef>
                <a:spcPts val="0"/>
              </a:spcBef>
              <a:spcAft>
                <a:spcPts val="0"/>
              </a:spcAft>
              <a:buSzPts val="1800"/>
              <a:buNone/>
            </a:pPr>
            <a:r>
              <a:rPr lang="en-US"/>
              <a:t>This is or was the main way to build application for all devices, but as you can expect this was also leading to more work, and have multiple teams to handle the same project.</a:t>
            </a:r>
            <a:endParaRPr/>
          </a:p>
        </p:txBody>
      </p:sp>
      <p:sp>
        <p:nvSpPr>
          <p:cNvPr id="111" name="Google Shape;111;g2c136d33009_1_24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1ff21e9a6e0_0_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While building mobile application you do have multiple solution, what are they? What did you use in class during the years?</a:t>
            </a:r>
            <a:br>
              <a:rPr lang="en-US"/>
            </a:br>
            <a:br>
              <a:rPr lang="en-US"/>
            </a:br>
            <a:r>
              <a:rPr lang="en-US"/>
              <a:t>Try to list all solution you experimented with and define their pro and con if you can.</a:t>
            </a:r>
            <a:endParaRPr/>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None/>
            </a:pPr>
            <a:r>
              <a:rPr lang="en-US"/>
              <a:t>Did you try some other solution for your projects, personal projects or even for company projects? </a:t>
            </a:r>
            <a:endParaRPr/>
          </a:p>
        </p:txBody>
      </p:sp>
      <p:sp>
        <p:nvSpPr>
          <p:cNvPr id="118" name="Google Shape;118;g1ff21e9a6e0_0_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1ff21e9a6e0_0_6"/>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In the previous question you should have listed at least 4 or 5 technologies, maybe more depending how precise you are and which stack you used. </a:t>
            </a:r>
            <a:endParaRPr/>
          </a:p>
          <a:p>
            <a:pPr marL="0" lvl="0" indent="0" algn="l" rtl="0">
              <a:lnSpc>
                <a:spcPct val="90000"/>
              </a:lnSpc>
              <a:spcBef>
                <a:spcPts val="0"/>
              </a:spcBef>
              <a:spcAft>
                <a:spcPts val="0"/>
              </a:spcAft>
              <a:buSzPts val="1800"/>
              <a:buNone/>
            </a:pPr>
            <a:endParaRPr/>
          </a:p>
          <a:p>
            <a:pPr marL="0" lvl="0" indent="0" algn="l" rtl="0">
              <a:lnSpc>
                <a:spcPct val="90000"/>
              </a:lnSpc>
              <a:spcBef>
                <a:spcPts val="0"/>
              </a:spcBef>
              <a:spcAft>
                <a:spcPts val="0"/>
              </a:spcAft>
              <a:buSzPts val="1800"/>
              <a:buNone/>
            </a:pPr>
            <a:r>
              <a:rPr lang="en-US"/>
              <a:t>What is the use case for each of them?</a:t>
            </a:r>
            <a:br>
              <a:rPr lang="en-US"/>
            </a:br>
            <a:r>
              <a:rPr lang="en-US"/>
              <a:t>Where do you think each technology shine? In which use case ? </a:t>
            </a:r>
            <a:endParaRPr/>
          </a:p>
        </p:txBody>
      </p:sp>
      <p:sp>
        <p:nvSpPr>
          <p:cNvPr id="125" name="Google Shape;125;g1ff21e9a6e0_0_6"/>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1ff21e9a6e0_0_12"/>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What could be the advantage of using native technology to build a mobile application?</a:t>
            </a:r>
            <a:br>
              <a:rPr lang="en-US"/>
            </a:br>
            <a:br>
              <a:rPr lang="en-US"/>
            </a:br>
            <a:r>
              <a:rPr lang="en-US"/>
              <a:t>What would be the best use case for such solution? </a:t>
            </a:r>
            <a:br>
              <a:rPr lang="en-US"/>
            </a:br>
            <a:r>
              <a:rPr lang="en-US"/>
              <a:t>Give some example of application that are build using that.</a:t>
            </a:r>
            <a:endParaRPr/>
          </a:p>
        </p:txBody>
      </p:sp>
      <p:sp>
        <p:nvSpPr>
          <p:cNvPr id="132" name="Google Shape;132;g1ff21e9a6e0_0_12"/>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1ff21e9a6e0_0_18"/>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You surely mentioned other solutions that are not native technology, for example Hybrid apps. What would be the use case for such technology?</a:t>
            </a:r>
            <a:br>
              <a:rPr lang="en-US"/>
            </a:br>
            <a:br>
              <a:rPr lang="en-US"/>
            </a:br>
            <a:r>
              <a:rPr lang="en-US"/>
              <a:t>Looking at your phone, what application - or kind of application - rely on that stack?</a:t>
            </a:r>
            <a:endParaRPr/>
          </a:p>
          <a:p>
            <a:pPr marL="0" lvl="0" indent="0" algn="l" rtl="0">
              <a:lnSpc>
                <a:spcPct val="90000"/>
              </a:lnSpc>
              <a:spcBef>
                <a:spcPts val="0"/>
              </a:spcBef>
              <a:spcAft>
                <a:spcPts val="0"/>
              </a:spcAft>
              <a:buSzPts val="1800"/>
              <a:buNone/>
            </a:pPr>
            <a:endParaRPr/>
          </a:p>
          <a:p>
            <a:pPr marL="0" lvl="0" indent="0" algn="l" rtl="0">
              <a:lnSpc>
                <a:spcPct val="90000"/>
              </a:lnSpc>
              <a:spcBef>
                <a:spcPts val="0"/>
              </a:spcBef>
              <a:spcAft>
                <a:spcPts val="0"/>
              </a:spcAft>
              <a:buSzPts val="1800"/>
              <a:buNone/>
            </a:pPr>
            <a:r>
              <a:rPr lang="en-US"/>
              <a:t>What do you think would be the advantage of using that over native technology?</a:t>
            </a:r>
            <a:endParaRPr/>
          </a:p>
        </p:txBody>
      </p:sp>
      <p:sp>
        <p:nvSpPr>
          <p:cNvPr id="139" name="Google Shape;139;g1ff21e9a6e0_0_18"/>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1ff21e9a6e0_0_2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If you started to write some code in the last 7-10 years, or know people that were writing code “back in the days” you may be aware of JQuery (and especially JQuery Mobile).</a:t>
            </a:r>
            <a:endParaRPr/>
          </a:p>
          <a:p>
            <a:pPr marL="0" lvl="0" indent="0" algn="l" rtl="0">
              <a:lnSpc>
                <a:spcPct val="90000"/>
              </a:lnSpc>
              <a:spcBef>
                <a:spcPts val="0"/>
              </a:spcBef>
              <a:spcAft>
                <a:spcPts val="0"/>
              </a:spcAft>
              <a:buSzPts val="1800"/>
              <a:buNone/>
            </a:pPr>
            <a:br>
              <a:rPr lang="en-US"/>
            </a:br>
            <a:r>
              <a:rPr lang="en-US"/>
              <a:t>What do you think is (or was) the use case for such technology?</a:t>
            </a:r>
            <a:br>
              <a:rPr lang="en-US"/>
            </a:br>
            <a:r>
              <a:rPr lang="en-US"/>
              <a:t>Would you still use it today? For which reason?</a:t>
            </a:r>
            <a:endParaRPr/>
          </a:p>
        </p:txBody>
      </p:sp>
      <p:sp>
        <p:nvSpPr>
          <p:cNvPr id="146" name="Google Shape;146;g1ff21e9a6e0_0_2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1ff21e9a6e0_0_3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Now the browser capabilities have extended quite a lot in the past 7 years, allowing a lot more access to not just the browser but also the system.</a:t>
            </a:r>
            <a:br>
              <a:rPr lang="en-US"/>
            </a:br>
            <a:br>
              <a:rPr lang="en-US"/>
            </a:br>
            <a:r>
              <a:rPr lang="en-US"/>
              <a:t>How do you think this is playing in the mobile or even desktop application landscape?</a:t>
            </a:r>
            <a:endParaRPr/>
          </a:p>
          <a:p>
            <a:pPr marL="0" lvl="0" indent="0" algn="l" rtl="0">
              <a:lnSpc>
                <a:spcPct val="90000"/>
              </a:lnSpc>
              <a:spcBef>
                <a:spcPts val="0"/>
              </a:spcBef>
              <a:spcAft>
                <a:spcPts val="0"/>
              </a:spcAft>
              <a:buSzPts val="1800"/>
              <a:buNone/>
            </a:pPr>
            <a:endParaRPr/>
          </a:p>
          <a:p>
            <a:pPr marL="0" lvl="0" indent="0" algn="l" rtl="0">
              <a:lnSpc>
                <a:spcPct val="90000"/>
              </a:lnSpc>
              <a:spcBef>
                <a:spcPts val="0"/>
              </a:spcBef>
              <a:spcAft>
                <a:spcPts val="0"/>
              </a:spcAft>
              <a:buSzPts val="1800"/>
              <a:buNone/>
            </a:pPr>
            <a:r>
              <a:rPr lang="en-US"/>
              <a:t>Are you aware of such solution running in the browser that you may use on a daily basis?</a:t>
            </a:r>
            <a:endParaRPr/>
          </a:p>
        </p:txBody>
      </p:sp>
      <p:sp>
        <p:nvSpPr>
          <p:cNvPr id="153" name="Google Shape;153;g1ff21e9a6e0_0_3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1ff21e9a6e0_0_36"/>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Discuss the global trade-off between all the previous solutions.</a:t>
            </a:r>
            <a:br>
              <a:rPr lang="en-US"/>
            </a:br>
            <a:br>
              <a:rPr lang="en-US"/>
            </a:br>
            <a:r>
              <a:rPr lang="en-US"/>
              <a:t>On which case would you use and favor one over the others? For which reason and type of application?</a:t>
            </a:r>
            <a:br>
              <a:rPr lang="en-US"/>
            </a:br>
            <a:br>
              <a:rPr lang="en-US"/>
            </a:br>
            <a:r>
              <a:rPr lang="en-US"/>
              <a:t>If tomorrow you had to decide which tech stack to use, how would you do your choice? What would be the key factor to decide?</a:t>
            </a:r>
            <a:endParaRPr/>
          </a:p>
        </p:txBody>
      </p:sp>
      <p:sp>
        <p:nvSpPr>
          <p:cNvPr id="160" name="Google Shape;160;g1ff21e9a6e0_0_36"/>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1ff21e9a6e0_0_42"/>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Let’s go into some concrete example with some use case.</a:t>
            </a:r>
            <a:br>
              <a:rPr lang="en-US"/>
            </a:br>
            <a:br>
              <a:rPr lang="en-US"/>
            </a:br>
            <a:r>
              <a:rPr lang="en-US"/>
              <a:t>What solution, and trade off would you take on the following ecosystem</a:t>
            </a:r>
            <a:endParaRPr/>
          </a:p>
          <a:p>
            <a:pPr marL="0" lvl="0" indent="0" algn="l" rtl="0">
              <a:lnSpc>
                <a:spcPct val="90000"/>
              </a:lnSpc>
              <a:spcBef>
                <a:spcPts val="0"/>
              </a:spcBef>
              <a:spcAft>
                <a:spcPts val="0"/>
              </a:spcAft>
              <a:buSzPts val="1800"/>
              <a:buNone/>
            </a:pPr>
            <a:endParaRPr/>
          </a:p>
          <a:p>
            <a:pPr marL="457200" lvl="0" indent="-342900" algn="l" rtl="0">
              <a:lnSpc>
                <a:spcPct val="90000"/>
              </a:lnSpc>
              <a:spcBef>
                <a:spcPts val="0"/>
              </a:spcBef>
              <a:spcAft>
                <a:spcPts val="0"/>
              </a:spcAft>
              <a:buSzPts val="1800"/>
              <a:buChar char="•"/>
            </a:pPr>
            <a:r>
              <a:rPr lang="en-US"/>
              <a:t>large tech company, providing a game (voodoo, clash of clan)</a:t>
            </a:r>
            <a:endParaRPr/>
          </a:p>
          <a:p>
            <a:pPr marL="457200" lvl="0" indent="-342900" algn="l" rtl="0">
              <a:lnSpc>
                <a:spcPct val="90000"/>
              </a:lnSpc>
              <a:spcBef>
                <a:spcPts val="0"/>
              </a:spcBef>
              <a:spcAft>
                <a:spcPts val="0"/>
              </a:spcAft>
              <a:buSzPts val="1800"/>
              <a:buChar char="•"/>
            </a:pPr>
            <a:r>
              <a:rPr lang="en-US"/>
              <a:t>medium sized company, with a blog solution (medium, dev.to)</a:t>
            </a:r>
            <a:endParaRPr/>
          </a:p>
          <a:p>
            <a:pPr marL="457200" lvl="0" indent="-342900" algn="l" rtl="0">
              <a:lnSpc>
                <a:spcPct val="90000"/>
              </a:lnSpc>
              <a:spcBef>
                <a:spcPts val="0"/>
              </a:spcBef>
              <a:spcAft>
                <a:spcPts val="0"/>
              </a:spcAft>
              <a:buSzPts val="1800"/>
              <a:buChar char="•"/>
            </a:pPr>
            <a:r>
              <a:rPr lang="en-US"/>
              <a:t>small company that provide a targeted solution solving one business use case (let’s say upload of image and report from a construction company)</a:t>
            </a:r>
            <a:endParaRPr/>
          </a:p>
        </p:txBody>
      </p:sp>
      <p:sp>
        <p:nvSpPr>
          <p:cNvPr id="167" name="Google Shape;167;g1ff21e9a6e0_0_42"/>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1ff21e9a6e0_0_48"/>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Depending on the previous point, almost all technical stack can be justified for each projects, at the end they provides the same capabilities.</a:t>
            </a:r>
            <a:br>
              <a:rPr lang="en-US"/>
            </a:br>
            <a:br>
              <a:rPr lang="en-US"/>
            </a:br>
            <a:r>
              <a:rPr lang="en-US"/>
              <a:t>But maybe the differentiator will be the capability to hire, the cost of build the application and maintaining it or even how the users will run it. </a:t>
            </a:r>
            <a:endParaRPr/>
          </a:p>
        </p:txBody>
      </p:sp>
      <p:sp>
        <p:nvSpPr>
          <p:cNvPr id="174" name="Google Shape;174;g1ff21e9a6e0_0_48"/>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1ff21e9a6e0_0_5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What solutions do you know can be used to build hybrid apps?</a:t>
            </a:r>
            <a:endParaRPr/>
          </a:p>
          <a:p>
            <a:pPr marL="0" lvl="0" indent="0" algn="l" rtl="0">
              <a:spcBef>
                <a:spcPts val="0"/>
              </a:spcBef>
              <a:spcAft>
                <a:spcPts val="0"/>
              </a:spcAft>
              <a:buClr>
                <a:schemeClr val="dk1"/>
              </a:buClr>
              <a:buSzPts val="1100"/>
              <a:buFont typeface="Arial"/>
              <a:buNone/>
            </a:pPr>
            <a:r>
              <a:rPr lang="en-US"/>
              <a:t>Did you use some of them or only heard of them?</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US"/>
              <a:t>In what use case did you remember seeing them? </a:t>
            </a:r>
            <a:endParaRPr/>
          </a:p>
          <a:p>
            <a:pPr marL="0" lvl="0" indent="0" algn="l" rtl="0">
              <a:spcBef>
                <a:spcPts val="0"/>
              </a:spcBef>
              <a:spcAft>
                <a:spcPts val="0"/>
              </a:spcAft>
              <a:buClr>
                <a:schemeClr val="dk1"/>
              </a:buClr>
              <a:buSzPts val="1100"/>
              <a:buFont typeface="Arial"/>
              <a:buNone/>
            </a:pPr>
            <a:r>
              <a:rPr lang="en-US"/>
              <a:t>Was it part to a specific project ?</a:t>
            </a:r>
            <a:endParaRPr/>
          </a:p>
          <a:p>
            <a:pPr marL="0" lvl="0" indent="0" algn="l" rtl="0">
              <a:spcBef>
                <a:spcPts val="0"/>
              </a:spcBef>
              <a:spcAft>
                <a:spcPts val="0"/>
              </a:spcAft>
              <a:buNone/>
            </a:pPr>
            <a:endParaRPr/>
          </a:p>
          <a:p>
            <a:pPr marL="0" lvl="0" indent="0" algn="l" rtl="0">
              <a:lnSpc>
                <a:spcPct val="90000"/>
              </a:lnSpc>
              <a:spcBef>
                <a:spcPts val="0"/>
              </a:spcBef>
              <a:spcAft>
                <a:spcPts val="0"/>
              </a:spcAft>
              <a:buSzPts val="1800"/>
              <a:buNone/>
            </a:pPr>
            <a:endParaRPr/>
          </a:p>
        </p:txBody>
      </p:sp>
      <p:sp>
        <p:nvSpPr>
          <p:cNvPr id="181" name="Google Shape;181;g1ff21e9a6e0_0_5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1ff21e9a6e0_0_6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If you used some hybrid solution (all of them, not one in particular) what was leading your choice to this solution?</a:t>
            </a:r>
            <a:br>
              <a:rPr lang="en-US"/>
            </a:br>
            <a:br>
              <a:rPr lang="en-US"/>
            </a:br>
            <a:r>
              <a:rPr lang="en-US"/>
              <a:t>What was your benchmark against?</a:t>
            </a:r>
            <a:br>
              <a:rPr lang="en-US"/>
            </a:br>
            <a:r>
              <a:rPr lang="en-US"/>
              <a:t>What was the project and the ecosystem about?</a:t>
            </a:r>
            <a:endParaRPr/>
          </a:p>
        </p:txBody>
      </p:sp>
      <p:sp>
        <p:nvSpPr>
          <p:cNvPr id="188" name="Google Shape;188;g1ff21e9a6e0_0_6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1ff21e9a6e0_0_66"/>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Do you think JavaScript is a good tool to build the hybrids</a:t>
            </a:r>
            <a:endParaRPr/>
          </a:p>
          <a:p>
            <a:pPr marL="0" lvl="0" indent="0" algn="l" rtl="0">
              <a:spcBef>
                <a:spcPts val="0"/>
              </a:spcBef>
              <a:spcAft>
                <a:spcPts val="0"/>
              </a:spcAft>
              <a:buSzPts val="1100"/>
              <a:buNone/>
            </a:pPr>
            <a:r>
              <a:rPr lang="en-US"/>
              <a:t>applications (it relies on JS framework)?</a:t>
            </a: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r>
              <a:rPr lang="en-US"/>
              <a:t>What do you think would be the impacts of using this technology over Kotlin / Swift ?</a:t>
            </a:r>
            <a:endParaRPr/>
          </a:p>
          <a:p>
            <a:pPr marL="0" lvl="0" indent="0" algn="l" rtl="0">
              <a:spcBef>
                <a:spcPts val="0"/>
              </a:spcBef>
              <a:spcAft>
                <a:spcPts val="0"/>
              </a:spcAft>
              <a:buClr>
                <a:schemeClr val="dk1"/>
              </a:buClr>
              <a:buSzPts val="1100"/>
              <a:buFont typeface="Arial"/>
              <a:buNone/>
            </a:pPr>
            <a:endParaRPr/>
          </a:p>
          <a:p>
            <a:pPr marL="457200" lvl="0" indent="-342900" algn="l" rtl="0">
              <a:spcBef>
                <a:spcPts val="0"/>
              </a:spcBef>
              <a:spcAft>
                <a:spcPts val="0"/>
              </a:spcAft>
              <a:buSzPts val="1800"/>
              <a:buChar char="•"/>
            </a:pPr>
            <a:r>
              <a:rPr lang="en-US"/>
              <a:t>performance</a:t>
            </a:r>
            <a:endParaRPr/>
          </a:p>
          <a:p>
            <a:pPr marL="457200" lvl="0" indent="-342900" algn="l" rtl="0">
              <a:spcBef>
                <a:spcPts val="0"/>
              </a:spcBef>
              <a:spcAft>
                <a:spcPts val="0"/>
              </a:spcAft>
              <a:buSzPts val="1800"/>
              <a:buChar char="•"/>
            </a:pPr>
            <a:r>
              <a:rPr lang="en-US"/>
              <a:t>building team / hiring</a:t>
            </a:r>
            <a:endParaRPr/>
          </a:p>
          <a:p>
            <a:pPr marL="457200" lvl="0" indent="-342900" algn="l" rtl="0">
              <a:spcBef>
                <a:spcPts val="0"/>
              </a:spcBef>
              <a:spcAft>
                <a:spcPts val="0"/>
              </a:spcAft>
              <a:buSzPts val="1800"/>
              <a:buChar char="•"/>
            </a:pPr>
            <a:r>
              <a:rPr lang="en-US"/>
              <a:t>reusability</a:t>
            </a:r>
            <a:endParaRPr/>
          </a:p>
          <a:p>
            <a:pPr marL="0" lvl="0" indent="0" algn="l" rtl="0">
              <a:lnSpc>
                <a:spcPct val="90000"/>
              </a:lnSpc>
              <a:spcBef>
                <a:spcPts val="0"/>
              </a:spcBef>
              <a:spcAft>
                <a:spcPts val="0"/>
              </a:spcAft>
              <a:buSzPts val="1800"/>
              <a:buNone/>
            </a:pPr>
            <a:endParaRPr/>
          </a:p>
        </p:txBody>
      </p:sp>
      <p:sp>
        <p:nvSpPr>
          <p:cNvPr id="195" name="Google Shape;195;g1ff21e9a6e0_0_66"/>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1ff21e9a6e0_0_72"/>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Do you think all companies need to have the best performances (aka</a:t>
            </a:r>
            <a:endParaRPr/>
          </a:p>
          <a:p>
            <a:pPr marL="0" lvl="0" indent="0" algn="l" rtl="0">
              <a:spcBef>
                <a:spcPts val="0"/>
              </a:spcBef>
              <a:spcAft>
                <a:spcPts val="0"/>
              </a:spcAft>
              <a:buClr>
                <a:schemeClr val="dk1"/>
              </a:buClr>
              <a:buSzPts val="1100"/>
              <a:buFont typeface="Arial"/>
              <a:buNone/>
            </a:pPr>
            <a:r>
              <a:rPr lang="en-US"/>
              <a:t>pure applications)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In which case would you select to go to pure applications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Justify your choice.</a:t>
            </a:r>
            <a:endParaRPr/>
          </a:p>
          <a:p>
            <a:pPr marL="0" lvl="0" indent="0" algn="l" rtl="0">
              <a:lnSpc>
                <a:spcPct val="90000"/>
              </a:lnSpc>
              <a:spcBef>
                <a:spcPts val="0"/>
              </a:spcBef>
              <a:spcAft>
                <a:spcPts val="0"/>
              </a:spcAft>
              <a:buSzPts val="1800"/>
              <a:buNone/>
            </a:pPr>
            <a:endParaRPr/>
          </a:p>
        </p:txBody>
      </p:sp>
      <p:sp>
        <p:nvSpPr>
          <p:cNvPr id="202" name="Google Shape;202;g1ff21e9a6e0_0_72"/>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1ff21e9a6e0_0_78"/>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There is no good / bad solution on the previous answer, you can</a:t>
            </a:r>
            <a:endParaRPr/>
          </a:p>
          <a:p>
            <a:pPr marL="0" lvl="0" indent="0" algn="l" rtl="0">
              <a:spcBef>
                <a:spcPts val="0"/>
              </a:spcBef>
              <a:spcAft>
                <a:spcPts val="0"/>
              </a:spcAft>
              <a:buClr>
                <a:schemeClr val="dk1"/>
              </a:buClr>
              <a:buSzPts val="1100"/>
              <a:buFont typeface="Arial"/>
              <a:buNone/>
            </a:pPr>
            <a:r>
              <a:rPr lang="en-US"/>
              <a:t>choose all technologies to build all of the projects.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But most of the time you have a trade-off to take when you build a solution.</a:t>
            </a:r>
            <a:endParaRPr/>
          </a:p>
          <a:p>
            <a:pPr marL="0" lvl="0" indent="0" algn="l" rtl="0">
              <a:spcBef>
                <a:spcPts val="0"/>
              </a:spcBef>
              <a:spcAft>
                <a:spcPts val="0"/>
              </a:spcAft>
              <a:buClr>
                <a:schemeClr val="dk1"/>
              </a:buClr>
              <a:buSzPts val="1100"/>
              <a:buFont typeface="Arial"/>
              <a:buNone/>
            </a:pPr>
            <a:endParaRPr/>
          </a:p>
          <a:p>
            <a:pPr marL="457200" lvl="0" indent="-342900" algn="l" rtl="0">
              <a:spcBef>
                <a:spcPts val="0"/>
              </a:spcBef>
              <a:spcAft>
                <a:spcPts val="0"/>
              </a:spcAft>
              <a:buSzPts val="1800"/>
              <a:buChar char="•"/>
            </a:pPr>
            <a:r>
              <a:rPr lang="en-US"/>
              <a:t>time</a:t>
            </a:r>
            <a:endParaRPr/>
          </a:p>
          <a:p>
            <a:pPr marL="457200" lvl="0" indent="-342900" algn="l" rtl="0">
              <a:spcBef>
                <a:spcPts val="0"/>
              </a:spcBef>
              <a:spcAft>
                <a:spcPts val="0"/>
              </a:spcAft>
              <a:buSzPts val="1800"/>
              <a:buChar char="•"/>
            </a:pPr>
            <a:r>
              <a:rPr lang="en-US"/>
              <a:t>money</a:t>
            </a:r>
            <a:endParaRPr/>
          </a:p>
          <a:p>
            <a:pPr marL="457200" lvl="0" indent="-342900" algn="l" rtl="0">
              <a:spcBef>
                <a:spcPts val="0"/>
              </a:spcBef>
              <a:spcAft>
                <a:spcPts val="0"/>
              </a:spcAft>
              <a:buSzPts val="1800"/>
              <a:buChar char="•"/>
            </a:pPr>
            <a:r>
              <a:rPr lang="en-US"/>
              <a:t>complexity</a:t>
            </a:r>
            <a:endParaRPr/>
          </a:p>
          <a:p>
            <a:pPr marL="0" lvl="0" indent="0" algn="l" rtl="0">
              <a:lnSpc>
                <a:spcPct val="90000"/>
              </a:lnSpc>
              <a:spcBef>
                <a:spcPts val="0"/>
              </a:spcBef>
              <a:spcAft>
                <a:spcPts val="0"/>
              </a:spcAft>
              <a:buSzPts val="1800"/>
              <a:buNone/>
            </a:pPr>
            <a:endParaRPr/>
          </a:p>
        </p:txBody>
      </p:sp>
      <p:sp>
        <p:nvSpPr>
          <p:cNvPr id="209" name="Google Shape;209;g1ff21e9a6e0_0_78"/>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1ff21e9a6e0_0_155"/>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As an engineer - senior and maybe manager - you will have to deal with</a:t>
            </a:r>
            <a:endParaRPr/>
          </a:p>
          <a:p>
            <a:pPr marL="0" lvl="0" indent="0" algn="l" rtl="0">
              <a:spcBef>
                <a:spcPts val="0"/>
              </a:spcBef>
              <a:spcAft>
                <a:spcPts val="0"/>
              </a:spcAft>
              <a:buClr>
                <a:schemeClr val="dk1"/>
              </a:buClr>
              <a:buSzPts val="1100"/>
              <a:buFont typeface="Arial"/>
              <a:buNone/>
            </a:pPr>
            <a:r>
              <a:rPr lang="en-US"/>
              <a:t>this kind of choice almost on a daily basis. After all the business will come with some needs, but without the knowledge on how to solve it.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SzPts val="1100"/>
              <a:buNone/>
            </a:pPr>
            <a:r>
              <a:rPr lang="en-US"/>
              <a:t>You will have to ask yourself, and your team, some questions that would be like:</a:t>
            </a:r>
            <a:endParaRPr/>
          </a:p>
          <a:p>
            <a:pPr marL="0" lvl="0" indent="0" algn="l" rtl="0">
              <a:spcBef>
                <a:spcPts val="0"/>
              </a:spcBef>
              <a:spcAft>
                <a:spcPts val="0"/>
              </a:spcAft>
              <a:buSzPts val="1100"/>
              <a:buNone/>
            </a:pPr>
            <a:endParaRPr/>
          </a:p>
          <a:p>
            <a:pPr marL="457200" lvl="0" indent="-342900" algn="l" rtl="0">
              <a:spcBef>
                <a:spcPts val="0"/>
              </a:spcBef>
              <a:spcAft>
                <a:spcPts val="0"/>
              </a:spcAft>
              <a:buSzPts val="1800"/>
              <a:buChar char="•"/>
            </a:pPr>
            <a:r>
              <a:rPr lang="en-US"/>
              <a:t>Is 90% of the base performance enough?</a:t>
            </a:r>
            <a:endParaRPr/>
          </a:p>
          <a:p>
            <a:pPr marL="457200" lvl="0" indent="-342900" algn="l" rtl="0">
              <a:spcBef>
                <a:spcPts val="0"/>
              </a:spcBef>
              <a:spcAft>
                <a:spcPts val="0"/>
              </a:spcAft>
              <a:buSzPts val="1800"/>
              <a:buChar char="•"/>
            </a:pPr>
            <a:r>
              <a:rPr lang="en-US"/>
              <a:t>How are my users using the applications?</a:t>
            </a:r>
            <a:endParaRPr/>
          </a:p>
          <a:p>
            <a:pPr marL="457200" lvl="0" indent="-342900" algn="l" rtl="0">
              <a:spcBef>
                <a:spcPts val="0"/>
              </a:spcBef>
              <a:spcAft>
                <a:spcPts val="0"/>
              </a:spcAft>
              <a:buSzPts val="1800"/>
              <a:buChar char="•"/>
            </a:pPr>
            <a:r>
              <a:rPr lang="en-US"/>
              <a:t>What are my users?</a:t>
            </a:r>
            <a:endParaRPr/>
          </a:p>
        </p:txBody>
      </p:sp>
      <p:sp>
        <p:nvSpPr>
          <p:cNvPr id="216" name="Google Shape;216;g1ff21e9a6e0_0_155"/>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1ff21e9a6e0_0_161"/>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00"/>
              <a:buNone/>
            </a:pPr>
            <a:r>
              <a:rPr lang="en-US"/>
              <a:t>But other more global questions can lead you in the way of finding the best solution:</a:t>
            </a:r>
            <a:endParaRPr/>
          </a:p>
          <a:p>
            <a:pPr marL="0" lvl="0" indent="0" algn="l" rtl="0">
              <a:spcBef>
                <a:spcPts val="0"/>
              </a:spcBef>
              <a:spcAft>
                <a:spcPts val="0"/>
              </a:spcAft>
              <a:buSzPts val="1100"/>
              <a:buNone/>
            </a:pPr>
            <a:endParaRPr/>
          </a:p>
          <a:p>
            <a:pPr marL="457200" lvl="0" indent="-342900" algn="l" rtl="0">
              <a:spcBef>
                <a:spcPts val="0"/>
              </a:spcBef>
              <a:spcAft>
                <a:spcPts val="0"/>
              </a:spcAft>
              <a:buSzPts val="1800"/>
              <a:buChar char="•"/>
            </a:pPr>
            <a:r>
              <a:rPr lang="en-US"/>
              <a:t>What kind of users do I have, what's my public?</a:t>
            </a:r>
            <a:endParaRPr/>
          </a:p>
          <a:p>
            <a:pPr marL="457200" lvl="0" indent="-342900" algn="l" rtl="0">
              <a:spcBef>
                <a:spcPts val="0"/>
              </a:spcBef>
              <a:spcAft>
                <a:spcPts val="0"/>
              </a:spcAft>
              <a:buSzPts val="1800"/>
              <a:buChar char="•"/>
            </a:pPr>
            <a:r>
              <a:rPr lang="en-US"/>
              <a:t>Do I need some specific features only available on one technical solution?</a:t>
            </a:r>
            <a:endParaRPr/>
          </a:p>
          <a:p>
            <a:pPr marL="457200" lvl="0" indent="-342900" algn="l" rtl="0">
              <a:spcBef>
                <a:spcPts val="0"/>
              </a:spcBef>
              <a:spcAft>
                <a:spcPts val="0"/>
              </a:spcAft>
              <a:buSzPts val="1800"/>
              <a:buChar char="•"/>
            </a:pPr>
            <a:r>
              <a:rPr lang="en-US"/>
              <a:t>Do I have the good people to work on that? </a:t>
            </a:r>
            <a:endParaRPr/>
          </a:p>
          <a:p>
            <a:pPr marL="457200" lvl="0" indent="-342900" algn="l" rtl="0">
              <a:spcBef>
                <a:spcPts val="0"/>
              </a:spcBef>
              <a:spcAft>
                <a:spcPts val="0"/>
              </a:spcAft>
              <a:buSzPts val="1800"/>
              <a:buChar char="•"/>
            </a:pPr>
            <a:r>
              <a:rPr lang="en-US"/>
              <a:t>Can I hire some new one?</a:t>
            </a:r>
            <a:endParaRPr/>
          </a:p>
          <a:p>
            <a:pPr marL="0" lvl="0" indent="0" algn="l" rtl="0">
              <a:spcBef>
                <a:spcPts val="0"/>
              </a:spcBef>
              <a:spcAft>
                <a:spcPts val="0"/>
              </a:spcAft>
              <a:buClr>
                <a:schemeClr val="dk1"/>
              </a:buClr>
              <a:buSzPts val="1100"/>
              <a:buFont typeface="Arial"/>
              <a:buNone/>
            </a:pPr>
            <a:endParaRPr/>
          </a:p>
          <a:p>
            <a:pPr marL="0" lvl="0" indent="0" algn="l" rtl="0">
              <a:lnSpc>
                <a:spcPct val="90000"/>
              </a:lnSpc>
              <a:spcBef>
                <a:spcPts val="0"/>
              </a:spcBef>
              <a:spcAft>
                <a:spcPts val="0"/>
              </a:spcAft>
              <a:buSzPts val="1800"/>
              <a:buNone/>
            </a:pPr>
            <a:endParaRPr/>
          </a:p>
        </p:txBody>
      </p:sp>
      <p:sp>
        <p:nvSpPr>
          <p:cNvPr id="223" name="Google Shape;223;g1ff21e9a6e0_0_161"/>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1ff21e9a6e0_0_167"/>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Using the previous question, try to answer using one of your project. It can be your year project, or a current project during your internship.</a:t>
            </a:r>
            <a:endParaRPr/>
          </a:p>
          <a:p>
            <a:pPr marL="0" lvl="0" indent="0" algn="l" rtl="0">
              <a:lnSpc>
                <a:spcPct val="90000"/>
              </a:lnSpc>
              <a:spcBef>
                <a:spcPts val="0"/>
              </a:spcBef>
              <a:spcAft>
                <a:spcPts val="0"/>
              </a:spcAft>
              <a:buSzPts val="1800"/>
              <a:buNone/>
            </a:pPr>
            <a:endParaRPr/>
          </a:p>
          <a:p>
            <a:pPr marL="0" lvl="0" indent="0" algn="l" rtl="0">
              <a:lnSpc>
                <a:spcPct val="90000"/>
              </a:lnSpc>
              <a:spcBef>
                <a:spcPts val="0"/>
              </a:spcBef>
              <a:spcAft>
                <a:spcPts val="0"/>
              </a:spcAft>
              <a:buSzPts val="1800"/>
              <a:buNone/>
            </a:pPr>
            <a:r>
              <a:rPr lang="en-US"/>
              <a:t>You can also extrapolate that with other projects you worked on.</a:t>
            </a:r>
            <a:endParaRPr/>
          </a:p>
        </p:txBody>
      </p:sp>
      <p:sp>
        <p:nvSpPr>
          <p:cNvPr id="230" name="Google Shape;230;g1ff21e9a6e0_0_167"/>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1. Discussion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g2c81011df6a_0_12"/>
          <p:cNvPicPr preferRelativeResize="0"/>
          <p:nvPr/>
        </p:nvPicPr>
        <p:blipFill rotWithShape="1">
          <a:blip r:embed="rId3">
            <a:alphaModFix/>
          </a:blip>
          <a:srcRect/>
          <a:stretch/>
        </p:blipFill>
        <p:spPr>
          <a:xfrm>
            <a:off x="4882413" y="2215413"/>
            <a:ext cx="2427174" cy="2427174"/>
          </a:xfrm>
          <a:prstGeom prst="rect">
            <a:avLst/>
          </a:prstGeom>
          <a:noFill/>
          <a:ln>
            <a:noFill/>
          </a:ln>
        </p:spPr>
      </p:pic>
      <p:sp>
        <p:nvSpPr>
          <p:cNvPr id="237" name="Google Shape;237;g2c81011df6a_0_12"/>
          <p:cNvSpPr txBox="1"/>
          <p:nvPr/>
        </p:nvSpPr>
        <p:spPr>
          <a:xfrm>
            <a:off x="4964200" y="4642575"/>
            <a:ext cx="2454000" cy="459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Calibri"/>
                <a:ea typeface="Calibri"/>
                <a:cs typeface="Calibri"/>
                <a:sym typeface="Calibri"/>
              </a:rPr>
              <a:t>Exercises</a:t>
            </a:r>
            <a:endParaRPr sz="2800" b="0" i="0" u="none" strike="noStrike" cap="none">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2c81011df6a_0_18"/>
          <p:cNvSpPr txBox="1">
            <a:spLocks noGrp="1"/>
          </p:cNvSpPr>
          <p:nvPr>
            <p:ph type="body" idx="1"/>
          </p:nvPr>
        </p:nvSpPr>
        <p:spPr>
          <a:xfrm>
            <a:off x="838199" y="365126"/>
            <a:ext cx="10515600" cy="579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32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c81011df6a_0_23"/>
          <p:cNvSpPr txBox="1">
            <a:spLocks noGrp="1"/>
          </p:cNvSpPr>
          <p:nvPr>
            <p:ph type="body" idx="1"/>
          </p:nvPr>
        </p:nvSpPr>
        <p:spPr>
          <a:xfrm>
            <a:off x="844550" y="1786740"/>
            <a:ext cx="10515600" cy="2851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5400"/>
              <a:buNone/>
            </a:pPr>
            <a:r>
              <a:rPr lang="en-US"/>
              <a:t>2. Hybrid apps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2c60c5209d3_0_102"/>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Since the rise of the iPhone (and so the smartphone trends) we use</a:t>
            </a:r>
            <a:endParaRPr/>
          </a:p>
          <a:p>
            <a:pPr marL="0" lvl="0" indent="0" algn="l" rtl="0">
              <a:spcBef>
                <a:spcPts val="0"/>
              </a:spcBef>
              <a:spcAft>
                <a:spcPts val="0"/>
              </a:spcAft>
              <a:buClr>
                <a:schemeClr val="dk1"/>
              </a:buClr>
              <a:buSzPts val="1100"/>
              <a:buFont typeface="Arial"/>
              <a:buNone/>
            </a:pPr>
            <a:r>
              <a:rPr lang="en-US"/>
              <a:t>more and more mobile devices on our daily life</a:t>
            </a:r>
            <a:endParaRPr/>
          </a:p>
          <a:p>
            <a:pPr marL="0" lvl="0" indent="0" algn="l" rtl="0">
              <a:spcBef>
                <a:spcPts val="0"/>
              </a:spcBef>
              <a:spcAft>
                <a:spcPts val="0"/>
              </a:spcAft>
              <a:buClr>
                <a:schemeClr val="dk1"/>
              </a:buClr>
              <a:buSzPts val="1100"/>
              <a:buFont typeface="Arial"/>
              <a:buNone/>
            </a:pPr>
            <a:endParaRPr/>
          </a:p>
          <a:p>
            <a:pPr marL="457200" lvl="0" indent="-342900" algn="l" rtl="0">
              <a:spcBef>
                <a:spcPts val="0"/>
              </a:spcBef>
              <a:spcAft>
                <a:spcPts val="0"/>
              </a:spcAft>
              <a:buSzPts val="1800"/>
              <a:buChar char="•"/>
            </a:pPr>
            <a:r>
              <a:rPr lang="en-US"/>
              <a:t>check the direction / map</a:t>
            </a:r>
            <a:endParaRPr/>
          </a:p>
          <a:p>
            <a:pPr marL="457200" lvl="0" indent="-342900" algn="l" rtl="0">
              <a:spcBef>
                <a:spcPts val="0"/>
              </a:spcBef>
              <a:spcAft>
                <a:spcPts val="0"/>
              </a:spcAft>
              <a:buSzPts val="1800"/>
              <a:buChar char="•"/>
            </a:pPr>
            <a:r>
              <a:rPr lang="en-US"/>
              <a:t>send email</a:t>
            </a:r>
            <a:endParaRPr/>
          </a:p>
          <a:p>
            <a:pPr marL="457200" lvl="0" indent="-342900" algn="l" rtl="0">
              <a:spcBef>
                <a:spcPts val="0"/>
              </a:spcBef>
              <a:spcAft>
                <a:spcPts val="0"/>
              </a:spcAft>
              <a:buSzPts val="1800"/>
              <a:buChar char="•"/>
            </a:pPr>
            <a:r>
              <a:rPr lang="en-US"/>
              <a:t>buy online</a:t>
            </a:r>
            <a:endParaRPr/>
          </a:p>
          <a:p>
            <a:pPr marL="457200" lvl="0" indent="-342900" algn="l" rtl="0">
              <a:spcBef>
                <a:spcPts val="0"/>
              </a:spcBef>
              <a:spcAft>
                <a:spcPts val="0"/>
              </a:spcAft>
              <a:buSzPts val="1800"/>
              <a:buChar char="•"/>
            </a:pPr>
            <a:r>
              <a:rPr lang="en-US"/>
              <a:t>take pictures and share it online</a:t>
            </a:r>
            <a:endParaRPr/>
          </a:p>
          <a:p>
            <a:pPr marL="0" lvl="0" indent="0" algn="l" rtl="0">
              <a:lnSpc>
                <a:spcPct val="90000"/>
              </a:lnSpc>
              <a:spcBef>
                <a:spcPts val="0"/>
              </a:spcBef>
              <a:spcAft>
                <a:spcPts val="0"/>
              </a:spcAft>
              <a:buSzPts val="1800"/>
              <a:buNone/>
            </a:pPr>
            <a:endParaRPr/>
          </a:p>
        </p:txBody>
      </p:sp>
      <p:sp>
        <p:nvSpPr>
          <p:cNvPr id="256" name="Google Shape;256;g2c60c5209d3_0_102"/>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1ff21e9a6e0_0_8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During the past 15ish years, we have seen a big change on how users</a:t>
            </a:r>
            <a:endParaRPr/>
          </a:p>
          <a:p>
            <a:pPr marL="0" lvl="0" indent="0" algn="l" rtl="0">
              <a:spcBef>
                <a:spcPts val="0"/>
              </a:spcBef>
              <a:spcAft>
                <a:spcPts val="0"/>
              </a:spcAft>
              <a:buClr>
                <a:schemeClr val="dk1"/>
              </a:buClr>
              <a:buSzPts val="1100"/>
              <a:buFont typeface="Arial"/>
              <a:buNone/>
            </a:pPr>
            <a:r>
              <a:rPr lang="en-US"/>
              <a:t>(consumers) use the tools and crave for more access with companies</a:t>
            </a:r>
            <a:endParaRPr/>
          </a:p>
          <a:p>
            <a:pPr marL="0" lvl="0" indent="0" algn="l" rtl="0">
              <a:spcBef>
                <a:spcPts val="0"/>
              </a:spcBef>
              <a:spcAft>
                <a:spcPts val="0"/>
              </a:spcAft>
              <a:buClr>
                <a:schemeClr val="dk1"/>
              </a:buClr>
              <a:buSzPts val="1100"/>
              <a:buFont typeface="Arial"/>
              <a:buNone/>
            </a:pPr>
            <a:r>
              <a:rPr lang="en-US"/>
              <a:t>needing to provide the best experience possible using their website.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But the trend is also to have an easy-to-use solution using only your</a:t>
            </a:r>
            <a:endParaRPr/>
          </a:p>
          <a:p>
            <a:pPr marL="0" lvl="0" indent="0" algn="l" rtl="0">
              <a:spcBef>
                <a:spcPts val="0"/>
              </a:spcBef>
              <a:spcAft>
                <a:spcPts val="0"/>
              </a:spcAft>
              <a:buSzPts val="1100"/>
              <a:buNone/>
            </a:pPr>
            <a:r>
              <a:rPr lang="en-US"/>
              <a:t>mobile device (smartphone, tablet...), and that for everything.</a:t>
            </a: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r>
              <a:rPr lang="en-US"/>
              <a:t>Would you use a bank without a mobile app? Would you be on a social network just having a website? But would you use a social network without a website?</a:t>
            </a:r>
            <a:endParaRPr/>
          </a:p>
          <a:p>
            <a:pPr marL="0" lvl="0" indent="0" algn="l" rtl="0">
              <a:lnSpc>
                <a:spcPct val="90000"/>
              </a:lnSpc>
              <a:spcBef>
                <a:spcPts val="0"/>
              </a:spcBef>
              <a:spcAft>
                <a:spcPts val="0"/>
              </a:spcAft>
              <a:buSzPts val="1800"/>
              <a:buNone/>
            </a:pPr>
            <a:endParaRPr/>
          </a:p>
        </p:txBody>
      </p:sp>
      <p:sp>
        <p:nvSpPr>
          <p:cNvPr id="263" name="Google Shape;263;g1ff21e9a6e0_0_8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1ff21e9a6e0_0_9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It is hard to imagine, but before 2007 (or even before 2010) most of</a:t>
            </a:r>
            <a:endParaRPr/>
          </a:p>
          <a:p>
            <a:pPr marL="0" lvl="0" indent="0" algn="l" rtl="0">
              <a:spcBef>
                <a:spcPts val="0"/>
              </a:spcBef>
              <a:spcAft>
                <a:spcPts val="0"/>
              </a:spcAft>
              <a:buClr>
                <a:schemeClr val="dk1"/>
              </a:buClr>
              <a:buSzPts val="1100"/>
              <a:buFont typeface="Arial"/>
              <a:buNone/>
            </a:pPr>
            <a:r>
              <a:rPr lang="en-US"/>
              <a:t>the people didn't have a smartphone - and no one with unlimited</a:t>
            </a:r>
            <a:endParaRPr/>
          </a:p>
          <a:p>
            <a:pPr marL="0" lvl="0" indent="0" algn="l" rtl="0">
              <a:spcBef>
                <a:spcPts val="0"/>
              </a:spcBef>
              <a:spcAft>
                <a:spcPts val="0"/>
              </a:spcAft>
              <a:buClr>
                <a:schemeClr val="dk1"/>
              </a:buClr>
              <a:buSzPts val="1100"/>
              <a:buFont typeface="Arial"/>
              <a:buNone/>
            </a:pPr>
            <a:r>
              <a:rPr lang="en-US"/>
              <a:t>internet as fast as the current 4G/5G (even with the ADSL which was</a:t>
            </a:r>
            <a:endParaRPr/>
          </a:p>
          <a:p>
            <a:pPr marL="0" lvl="0" indent="0" algn="l" rtl="0">
              <a:spcBef>
                <a:spcPts val="0"/>
              </a:spcBef>
              <a:spcAft>
                <a:spcPts val="0"/>
              </a:spcAft>
              <a:buClr>
                <a:schemeClr val="dk1"/>
              </a:buClr>
              <a:buSzPts val="1100"/>
              <a:buFont typeface="Arial"/>
              <a:buNone/>
            </a:pPr>
            <a:r>
              <a:rPr lang="en-US"/>
              <a:t>~5Mbits).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On smartphone, internet wasn't a default solution and in France</a:t>
            </a:r>
            <a:endParaRPr/>
          </a:p>
          <a:p>
            <a:pPr marL="0" lvl="0" indent="0" algn="l" rtl="0">
              <a:spcBef>
                <a:spcPts val="0"/>
              </a:spcBef>
              <a:spcAft>
                <a:spcPts val="0"/>
              </a:spcAft>
              <a:buClr>
                <a:schemeClr val="dk1"/>
              </a:buClr>
              <a:buSzPts val="1100"/>
              <a:buFont typeface="Arial"/>
              <a:buNone/>
            </a:pPr>
            <a:r>
              <a:rPr lang="en-US"/>
              <a:t>people used a "fake internet" webportal.</a:t>
            </a:r>
            <a:endParaRPr/>
          </a:p>
          <a:p>
            <a:pPr marL="0" lvl="0" indent="0" algn="l" rtl="0">
              <a:lnSpc>
                <a:spcPct val="90000"/>
              </a:lnSpc>
              <a:spcBef>
                <a:spcPts val="0"/>
              </a:spcBef>
              <a:spcAft>
                <a:spcPts val="0"/>
              </a:spcAft>
              <a:buSzPts val="1800"/>
              <a:buNone/>
            </a:pPr>
            <a:endParaRPr/>
          </a:p>
        </p:txBody>
      </p:sp>
      <p:sp>
        <p:nvSpPr>
          <p:cNvPr id="270" name="Google Shape;270;g1ff21e9a6e0_0_9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1ff21e9a6e0_0_96"/>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Starting around 2010/2012 people had access to multiple types of</a:t>
            </a:r>
            <a:endParaRPr/>
          </a:p>
          <a:p>
            <a:pPr marL="0" lvl="0" indent="0" algn="l" rtl="0">
              <a:spcBef>
                <a:spcPts val="0"/>
              </a:spcBef>
              <a:spcAft>
                <a:spcPts val="0"/>
              </a:spcAft>
              <a:buClr>
                <a:schemeClr val="dk1"/>
              </a:buClr>
              <a:buSzPts val="1100"/>
              <a:buFont typeface="Arial"/>
              <a:buNone/>
            </a:pPr>
            <a:r>
              <a:rPr lang="en-US"/>
              <a:t>phones. Mainly the following list for the Operating System.</a:t>
            </a:r>
            <a:endParaRPr/>
          </a:p>
          <a:p>
            <a:pPr marL="0" lvl="0" indent="0" algn="l" rtl="0">
              <a:spcBef>
                <a:spcPts val="0"/>
              </a:spcBef>
              <a:spcAft>
                <a:spcPts val="0"/>
              </a:spcAft>
              <a:buClr>
                <a:schemeClr val="dk1"/>
              </a:buClr>
              <a:buSzPts val="1100"/>
              <a:buFont typeface="Arial"/>
              <a:buNone/>
            </a:pPr>
            <a:endParaRPr/>
          </a:p>
          <a:p>
            <a:pPr marL="457200" lvl="0" indent="-342900" algn="l" rtl="0">
              <a:spcBef>
                <a:spcPts val="0"/>
              </a:spcBef>
              <a:spcAft>
                <a:spcPts val="0"/>
              </a:spcAft>
              <a:buSzPts val="1800"/>
              <a:buChar char="•"/>
            </a:pPr>
            <a:r>
              <a:rPr lang="en-US"/>
              <a:t>iOS</a:t>
            </a:r>
            <a:endParaRPr/>
          </a:p>
          <a:p>
            <a:pPr marL="457200" lvl="0" indent="-342900" algn="l" rtl="0">
              <a:spcBef>
                <a:spcPts val="0"/>
              </a:spcBef>
              <a:spcAft>
                <a:spcPts val="0"/>
              </a:spcAft>
              <a:buSzPts val="1800"/>
              <a:buChar char="•"/>
            </a:pPr>
            <a:r>
              <a:rPr lang="en-US"/>
              <a:t>Android</a:t>
            </a:r>
            <a:endParaRPr/>
          </a:p>
          <a:p>
            <a:pPr marL="457200" lvl="0" indent="-342900" algn="l" rtl="0">
              <a:spcBef>
                <a:spcPts val="0"/>
              </a:spcBef>
              <a:spcAft>
                <a:spcPts val="0"/>
              </a:spcAft>
              <a:buSzPts val="1800"/>
              <a:buChar char="•"/>
            </a:pPr>
            <a:r>
              <a:rPr lang="en-US"/>
              <a:t>Windows Phone</a:t>
            </a:r>
            <a:endParaRPr/>
          </a:p>
          <a:p>
            <a:pPr marL="457200" lvl="0" indent="-342900" algn="l" rtl="0">
              <a:spcBef>
                <a:spcPts val="0"/>
              </a:spcBef>
              <a:spcAft>
                <a:spcPts val="0"/>
              </a:spcAft>
              <a:buSzPts val="1800"/>
              <a:buChar char="•"/>
            </a:pPr>
            <a:r>
              <a:rPr lang="en-US"/>
              <a:t>Blackberry</a:t>
            </a:r>
            <a:endParaRPr/>
          </a:p>
          <a:p>
            <a:pPr marL="0" lvl="0" indent="0" algn="l" rtl="0">
              <a:lnSpc>
                <a:spcPct val="90000"/>
              </a:lnSpc>
              <a:spcBef>
                <a:spcPts val="0"/>
              </a:spcBef>
              <a:spcAft>
                <a:spcPts val="0"/>
              </a:spcAft>
              <a:buSzPts val="1800"/>
              <a:buNone/>
            </a:pPr>
            <a:endParaRPr/>
          </a:p>
        </p:txBody>
      </p:sp>
      <p:sp>
        <p:nvSpPr>
          <p:cNvPr id="277" name="Google Shape;277;g1ff21e9a6e0_0_96"/>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1ff21e9a6e0_0_102"/>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Blackberry was the "legacy" solution for all people to use (businessman) as this was the only solution done for professionals, and this was the main selling point. It was even used since a few years ago as the phone use by the USA president (It changed during the 2nd mandat of Barack Obama).</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With the rise of the iPhone and Android, most of the population</a:t>
            </a:r>
            <a:endParaRPr/>
          </a:p>
          <a:p>
            <a:pPr marL="0" lvl="0" indent="0" algn="l" rtl="0">
              <a:spcBef>
                <a:spcPts val="0"/>
              </a:spcBef>
              <a:spcAft>
                <a:spcPts val="0"/>
              </a:spcAft>
              <a:buClr>
                <a:schemeClr val="dk1"/>
              </a:buClr>
              <a:buSzPts val="1100"/>
              <a:buFont typeface="Arial"/>
              <a:buNone/>
            </a:pPr>
            <a:r>
              <a:rPr lang="en-US"/>
              <a:t>moved to use one of these solutions, and the companies had to adapt.</a:t>
            </a:r>
            <a:endParaRPr/>
          </a:p>
          <a:p>
            <a:pPr marL="0" lvl="0" indent="0" algn="l" rtl="0">
              <a:lnSpc>
                <a:spcPct val="90000"/>
              </a:lnSpc>
              <a:spcBef>
                <a:spcPts val="0"/>
              </a:spcBef>
              <a:spcAft>
                <a:spcPts val="0"/>
              </a:spcAft>
              <a:buSzPts val="1800"/>
              <a:buNone/>
            </a:pPr>
            <a:endParaRPr/>
          </a:p>
        </p:txBody>
      </p:sp>
      <p:sp>
        <p:nvSpPr>
          <p:cNvPr id="284" name="Google Shape;284;g1ff21e9a6e0_0_102"/>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1ff21e9a6e0_0_108"/>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Today more people own smartphone than computers, it is de facto the</a:t>
            </a:r>
            <a:endParaRPr/>
          </a:p>
          <a:p>
            <a:pPr marL="0" lvl="0" indent="0" algn="l" rtl="0">
              <a:spcBef>
                <a:spcPts val="0"/>
              </a:spcBef>
              <a:spcAft>
                <a:spcPts val="0"/>
              </a:spcAft>
              <a:buClr>
                <a:schemeClr val="dk1"/>
              </a:buClr>
              <a:buSzPts val="1100"/>
              <a:buFont typeface="Arial"/>
              <a:buNone/>
            </a:pPr>
            <a:r>
              <a:rPr lang="en-US"/>
              <a:t>base / target solution that companies should consider - but it also</a:t>
            </a:r>
            <a:endParaRPr/>
          </a:p>
          <a:p>
            <a:pPr marL="0" lvl="0" indent="0" algn="l" rtl="0">
              <a:spcBef>
                <a:spcPts val="0"/>
              </a:spcBef>
              <a:spcAft>
                <a:spcPts val="0"/>
              </a:spcAft>
              <a:buClr>
                <a:schemeClr val="dk1"/>
              </a:buClr>
              <a:buSzPts val="1100"/>
              <a:buFont typeface="Arial"/>
              <a:buNone/>
            </a:pPr>
            <a:r>
              <a:rPr lang="en-US"/>
              <a:t>depends of the public.</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For example if you are working for an internal ERP you can be pretty</a:t>
            </a:r>
            <a:endParaRPr/>
          </a:p>
          <a:p>
            <a:pPr marL="0" lvl="0" indent="0" algn="l" rtl="0">
              <a:spcBef>
                <a:spcPts val="0"/>
              </a:spcBef>
              <a:spcAft>
                <a:spcPts val="0"/>
              </a:spcAft>
              <a:buClr>
                <a:schemeClr val="dk1"/>
              </a:buClr>
              <a:buSzPts val="1100"/>
              <a:buFont typeface="Arial"/>
              <a:buNone/>
            </a:pPr>
            <a:r>
              <a:rPr lang="en-US"/>
              <a:t>sure that the solution is here for people using a computer daily, where if you build a social network - like BeReal - you don’t really care about computer.</a:t>
            </a:r>
            <a:endParaRPr/>
          </a:p>
          <a:p>
            <a:pPr marL="0" lvl="0" indent="0" algn="l" rtl="0">
              <a:lnSpc>
                <a:spcPct val="90000"/>
              </a:lnSpc>
              <a:spcBef>
                <a:spcPts val="0"/>
              </a:spcBef>
              <a:spcAft>
                <a:spcPts val="0"/>
              </a:spcAft>
              <a:buSzPts val="1800"/>
              <a:buNone/>
            </a:pPr>
            <a:endParaRPr/>
          </a:p>
        </p:txBody>
      </p:sp>
      <p:sp>
        <p:nvSpPr>
          <p:cNvPr id="291" name="Google Shape;291;g1ff21e9a6e0_0_108"/>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g1ff21e9a6e0_0_11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On the other end, if you build a real time solution to have some food</a:t>
            </a:r>
            <a:endParaRPr/>
          </a:p>
          <a:p>
            <a:pPr marL="0" lvl="0" indent="0" algn="l" rtl="0">
              <a:spcBef>
                <a:spcPts val="0"/>
              </a:spcBef>
              <a:spcAft>
                <a:spcPts val="0"/>
              </a:spcAft>
              <a:buClr>
                <a:schemeClr val="dk1"/>
              </a:buClr>
              <a:buSzPts val="1100"/>
              <a:buFont typeface="Arial"/>
              <a:buNone/>
            </a:pPr>
            <a:r>
              <a:rPr lang="en-US"/>
              <a:t>delivered, in that case people will mostly order from their phone</a:t>
            </a:r>
            <a:endParaRPr/>
          </a:p>
          <a:p>
            <a:pPr marL="0" lvl="0" indent="0" algn="l" rtl="0">
              <a:spcBef>
                <a:spcPts val="0"/>
              </a:spcBef>
              <a:spcAft>
                <a:spcPts val="0"/>
              </a:spcAft>
              <a:buClr>
                <a:schemeClr val="dk1"/>
              </a:buClr>
              <a:buSzPts val="1100"/>
              <a:buFont typeface="Arial"/>
              <a:buNone/>
            </a:pPr>
            <a:r>
              <a:rPr lang="en-US"/>
              <a:t>while delivery people will also follow that from their phone.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It always depends on what's your end target, it can help you to</a:t>
            </a:r>
            <a:endParaRPr/>
          </a:p>
          <a:p>
            <a:pPr marL="0" lvl="0" indent="0" algn="l" rtl="0">
              <a:spcBef>
                <a:spcPts val="0"/>
              </a:spcBef>
              <a:spcAft>
                <a:spcPts val="0"/>
              </a:spcAft>
              <a:buClr>
                <a:schemeClr val="dk1"/>
              </a:buClr>
              <a:buSzPts val="1100"/>
              <a:buFont typeface="Arial"/>
              <a:buNone/>
            </a:pPr>
            <a:r>
              <a:rPr lang="en-US"/>
              <a:t>choose a technology before another one.</a:t>
            </a:r>
            <a:endParaRPr/>
          </a:p>
          <a:p>
            <a:pPr marL="0" lvl="0" indent="0" algn="l" rtl="0">
              <a:lnSpc>
                <a:spcPct val="90000"/>
              </a:lnSpc>
              <a:spcBef>
                <a:spcPts val="0"/>
              </a:spcBef>
              <a:spcAft>
                <a:spcPts val="0"/>
              </a:spcAft>
              <a:buSzPts val="1800"/>
              <a:buNone/>
            </a:pPr>
            <a:endParaRPr/>
          </a:p>
        </p:txBody>
      </p:sp>
      <p:sp>
        <p:nvSpPr>
          <p:cNvPr id="298" name="Google Shape;298;g1ff21e9a6e0_0_11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g1ff21e9a6e0_0_12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Back in the early days of mobile, there was really only one way to give</a:t>
            </a:r>
            <a:endParaRPr/>
          </a:p>
          <a:p>
            <a:pPr marL="0" lvl="0" indent="0" algn="l" rtl="0">
              <a:spcBef>
                <a:spcPts val="0"/>
              </a:spcBef>
              <a:spcAft>
                <a:spcPts val="0"/>
              </a:spcAft>
              <a:buClr>
                <a:schemeClr val="dk1"/>
              </a:buClr>
              <a:buSzPts val="1100"/>
              <a:buFont typeface="Arial"/>
              <a:buNone/>
            </a:pPr>
            <a:r>
              <a:rPr lang="en-US"/>
              <a:t>your users the performance and features they expected. You had to</a:t>
            </a:r>
            <a:endParaRPr/>
          </a:p>
          <a:p>
            <a:pPr marL="0" lvl="0" indent="0" algn="l" rtl="0">
              <a:spcBef>
                <a:spcPts val="0"/>
              </a:spcBef>
              <a:spcAft>
                <a:spcPts val="0"/>
              </a:spcAft>
              <a:buClr>
                <a:schemeClr val="dk1"/>
              </a:buClr>
              <a:buSzPts val="1100"/>
              <a:buFont typeface="Arial"/>
              <a:buNone/>
            </a:pPr>
            <a:r>
              <a:rPr lang="en-US"/>
              <a:t>use each platform’s native toolset, and this comes with a trade-off.</a:t>
            </a:r>
            <a:endParaRPr/>
          </a:p>
          <a:p>
            <a:pPr marL="0" lvl="0" indent="0" algn="l" rtl="0">
              <a:spcBef>
                <a:spcPts val="0"/>
              </a:spcBef>
              <a:spcAft>
                <a:spcPts val="0"/>
              </a:spcAft>
              <a:buClr>
                <a:schemeClr val="dk1"/>
              </a:buClr>
              <a:buSzPts val="1100"/>
              <a:buFont typeface="Arial"/>
              <a:buNone/>
            </a:pPr>
            <a:endParaRPr/>
          </a:p>
          <a:p>
            <a:pPr marL="457200" lvl="0" indent="-342900" algn="l" rtl="0">
              <a:spcBef>
                <a:spcPts val="0"/>
              </a:spcBef>
              <a:spcAft>
                <a:spcPts val="0"/>
              </a:spcAft>
              <a:buSzPts val="1800"/>
              <a:buChar char="•"/>
            </a:pPr>
            <a:r>
              <a:rPr lang="en-US"/>
              <a:t>Building in parallel for each mobile platform</a:t>
            </a:r>
            <a:endParaRPr/>
          </a:p>
          <a:p>
            <a:pPr marL="457200" lvl="0" indent="-342900" algn="l" rtl="0">
              <a:spcBef>
                <a:spcPts val="0"/>
              </a:spcBef>
              <a:spcAft>
                <a:spcPts val="0"/>
              </a:spcAft>
              <a:buSzPts val="1800"/>
              <a:buChar char="•"/>
            </a:pPr>
            <a:r>
              <a:rPr lang="en-US"/>
              <a:t>Managing multiple codebases</a:t>
            </a:r>
            <a:endParaRPr/>
          </a:p>
          <a:p>
            <a:pPr marL="457200" lvl="0" indent="-342900" algn="l" rtl="0">
              <a:spcBef>
                <a:spcPts val="0"/>
              </a:spcBef>
              <a:spcAft>
                <a:spcPts val="0"/>
              </a:spcAft>
              <a:buSzPts val="1800"/>
              <a:buChar char="•"/>
            </a:pPr>
            <a:r>
              <a:rPr lang="en-US"/>
              <a:t>Hiring and retaining highly specialized and costly native developers</a:t>
            </a:r>
            <a:endParaRPr/>
          </a:p>
          <a:p>
            <a:pPr marL="0" lvl="0" indent="0" algn="l" rtl="0">
              <a:lnSpc>
                <a:spcPct val="90000"/>
              </a:lnSpc>
              <a:spcBef>
                <a:spcPts val="0"/>
              </a:spcBef>
              <a:spcAft>
                <a:spcPts val="0"/>
              </a:spcAft>
              <a:buSzPts val="1800"/>
              <a:buNone/>
            </a:pPr>
            <a:endParaRPr/>
          </a:p>
        </p:txBody>
      </p:sp>
      <p:sp>
        <p:nvSpPr>
          <p:cNvPr id="305" name="Google Shape;305;g1ff21e9a6e0_0_12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g1ff21e9a6e0_0_126"/>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00"/>
              <a:buNone/>
            </a:pPr>
            <a:r>
              <a:rPr lang="en-US"/>
              <a:t>Meanwhile, demand for mobile experiences continues to grow exponentially. </a:t>
            </a:r>
            <a:endParaRPr/>
          </a:p>
          <a:p>
            <a:pPr marL="0" lvl="0" indent="0" algn="l" rtl="0">
              <a:spcBef>
                <a:spcPts val="0"/>
              </a:spcBef>
              <a:spcAft>
                <a:spcPts val="0"/>
              </a:spcAft>
              <a:buClr>
                <a:schemeClr val="dk1"/>
              </a:buClr>
              <a:buSzPts val="1100"/>
              <a:buFont typeface="Arial"/>
              <a:buNone/>
            </a:pPr>
            <a:r>
              <a:rPr lang="en-US"/>
              <a:t>By 2025, 70% of all enterprise software interactions are expected</a:t>
            </a:r>
            <a:endParaRPr/>
          </a:p>
          <a:p>
            <a:pPr marL="0" lvl="0" indent="0" algn="l" rtl="0">
              <a:spcBef>
                <a:spcPts val="0"/>
              </a:spcBef>
              <a:spcAft>
                <a:spcPts val="0"/>
              </a:spcAft>
              <a:buClr>
                <a:schemeClr val="dk1"/>
              </a:buClr>
              <a:buSzPts val="1100"/>
              <a:buFont typeface="Arial"/>
              <a:buNone/>
            </a:pPr>
            <a:r>
              <a:rPr lang="en-US"/>
              <a:t>to occur on mobile devices (Gartner). This value may rise even higher with new technologies like wearable, and also with a lot of new countries jumping past computer to mobile directly.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Given the time and cost of traditional native development, it’s no</a:t>
            </a:r>
            <a:endParaRPr/>
          </a:p>
          <a:p>
            <a:pPr marL="0" lvl="0" indent="0" algn="l" rtl="0">
              <a:spcBef>
                <a:spcPts val="0"/>
              </a:spcBef>
              <a:spcAft>
                <a:spcPts val="0"/>
              </a:spcAft>
              <a:buClr>
                <a:schemeClr val="dk1"/>
              </a:buClr>
              <a:buSzPts val="1100"/>
              <a:buFont typeface="Arial"/>
              <a:buNone/>
            </a:pPr>
            <a:r>
              <a:rPr lang="en-US"/>
              <a:t>surprise that many development teams are struggling to keep up with</a:t>
            </a:r>
            <a:endParaRPr/>
          </a:p>
          <a:p>
            <a:pPr marL="0" lvl="0" indent="0" algn="l" rtl="0">
              <a:spcBef>
                <a:spcPts val="0"/>
              </a:spcBef>
              <a:spcAft>
                <a:spcPts val="0"/>
              </a:spcAft>
              <a:buClr>
                <a:schemeClr val="dk1"/>
              </a:buClr>
              <a:buSzPts val="1100"/>
              <a:buFont typeface="Arial"/>
              <a:buNone/>
            </a:pPr>
            <a:r>
              <a:rPr lang="en-US"/>
              <a:t>this demand.</a:t>
            </a:r>
            <a:endParaRPr/>
          </a:p>
          <a:p>
            <a:pPr marL="0" lvl="0" indent="0" algn="l" rtl="0">
              <a:lnSpc>
                <a:spcPct val="90000"/>
              </a:lnSpc>
              <a:spcBef>
                <a:spcPts val="0"/>
              </a:spcBef>
              <a:spcAft>
                <a:spcPts val="0"/>
              </a:spcAft>
              <a:buSzPts val="1800"/>
              <a:buNone/>
            </a:pPr>
            <a:endParaRPr/>
          </a:p>
        </p:txBody>
      </p:sp>
      <p:sp>
        <p:nvSpPr>
          <p:cNvPr id="312" name="Google Shape;312;g1ff21e9a6e0_0_126"/>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g1ff21e9a6e0_0_132"/>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Thankfully, times have changed. As mobile and web technology have</a:t>
            </a:r>
            <a:endParaRPr/>
          </a:p>
          <a:p>
            <a:pPr marL="0" lvl="0" indent="0" algn="l" rtl="0">
              <a:spcBef>
                <a:spcPts val="0"/>
              </a:spcBef>
              <a:spcAft>
                <a:spcPts val="0"/>
              </a:spcAft>
              <a:buClr>
                <a:schemeClr val="dk1"/>
              </a:buClr>
              <a:buSzPts val="1100"/>
              <a:buFont typeface="Arial"/>
              <a:buNone/>
            </a:pPr>
            <a:r>
              <a:rPr lang="en-US"/>
              <a:t>evolved, hybrid has emerged as a viable alternative to natives.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Many are now looking at hybrid development as a way to simplify and</a:t>
            </a:r>
            <a:endParaRPr/>
          </a:p>
          <a:p>
            <a:pPr marL="0" lvl="0" indent="0" algn="l" rtl="0">
              <a:spcBef>
                <a:spcPts val="0"/>
              </a:spcBef>
              <a:spcAft>
                <a:spcPts val="0"/>
              </a:spcAft>
              <a:buClr>
                <a:schemeClr val="dk1"/>
              </a:buClr>
              <a:buSzPts val="1100"/>
              <a:buFont typeface="Arial"/>
              <a:buNone/>
            </a:pPr>
            <a:r>
              <a:rPr lang="en-US"/>
              <a:t>speed up app creation.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Let’s take a look at the reasons for this shift.</a:t>
            </a:r>
            <a:endParaRPr/>
          </a:p>
          <a:p>
            <a:pPr marL="0" lvl="0" indent="0" algn="l" rtl="0">
              <a:lnSpc>
                <a:spcPct val="90000"/>
              </a:lnSpc>
              <a:spcBef>
                <a:spcPts val="0"/>
              </a:spcBef>
              <a:spcAft>
                <a:spcPts val="0"/>
              </a:spcAft>
              <a:buSzPts val="1800"/>
              <a:buNone/>
            </a:pPr>
            <a:endParaRPr/>
          </a:p>
        </p:txBody>
      </p:sp>
      <p:sp>
        <p:nvSpPr>
          <p:cNvPr id="319" name="Google Shape;319;g1ff21e9a6e0_0_132"/>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1ff21e9a6e0_0_138"/>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The growing adoption of hybrid is evident. Multiple survey found</a:t>
            </a:r>
            <a:endParaRPr/>
          </a:p>
          <a:p>
            <a:pPr marL="0" lvl="0" indent="0" algn="l" rtl="0">
              <a:spcBef>
                <a:spcPts val="0"/>
              </a:spcBef>
              <a:spcAft>
                <a:spcPts val="0"/>
              </a:spcAft>
              <a:buClr>
                <a:schemeClr val="dk1"/>
              </a:buClr>
              <a:buSzPts val="1100"/>
              <a:buFont typeface="Arial"/>
              <a:buNone/>
            </a:pPr>
            <a:r>
              <a:rPr lang="en-US"/>
              <a:t>two-thirds of developers are choosing a cross-platform or web-based</a:t>
            </a:r>
            <a:endParaRPr/>
          </a:p>
          <a:p>
            <a:pPr marL="0" lvl="0" indent="0" algn="l" rtl="0">
              <a:spcBef>
                <a:spcPts val="0"/>
              </a:spcBef>
              <a:spcAft>
                <a:spcPts val="0"/>
              </a:spcAft>
              <a:buClr>
                <a:schemeClr val="dk1"/>
              </a:buClr>
              <a:buSzPts val="1100"/>
              <a:buFont typeface="Arial"/>
              <a:buNone/>
            </a:pPr>
            <a:r>
              <a:rPr lang="en-US"/>
              <a:t>approach over native tools.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Even the top brands like Target, Nationwide, and Southwest Airlines</a:t>
            </a:r>
            <a:endParaRPr/>
          </a:p>
          <a:p>
            <a:pPr marL="0" lvl="0" indent="0" algn="l" rtl="0">
              <a:spcBef>
                <a:spcPts val="0"/>
              </a:spcBef>
              <a:spcAft>
                <a:spcPts val="0"/>
              </a:spcAft>
              <a:buClr>
                <a:schemeClr val="dk1"/>
              </a:buClr>
              <a:buSzPts val="1100"/>
              <a:buFont typeface="Arial"/>
              <a:buNone/>
            </a:pPr>
            <a:r>
              <a:rPr lang="en-US"/>
              <a:t>have chosen a hybrid approach over native to power apps for their</a:t>
            </a:r>
            <a:endParaRPr/>
          </a:p>
          <a:p>
            <a:pPr marL="0" lvl="0" indent="0" algn="l" rtl="0">
              <a:spcBef>
                <a:spcPts val="0"/>
              </a:spcBef>
              <a:spcAft>
                <a:spcPts val="0"/>
              </a:spcAft>
              <a:buClr>
                <a:schemeClr val="dk1"/>
              </a:buClr>
              <a:buSzPts val="1100"/>
              <a:buFont typeface="Arial"/>
              <a:buNone/>
            </a:pPr>
            <a:r>
              <a:rPr lang="en-US"/>
              <a:t>customers and employees.</a:t>
            </a:r>
            <a:endParaRPr/>
          </a:p>
          <a:p>
            <a:pPr marL="0" lvl="0" indent="0" algn="l" rtl="0">
              <a:lnSpc>
                <a:spcPct val="90000"/>
              </a:lnSpc>
              <a:spcBef>
                <a:spcPts val="0"/>
              </a:spcBef>
              <a:spcAft>
                <a:spcPts val="0"/>
              </a:spcAft>
              <a:buSzPts val="1800"/>
              <a:buNone/>
            </a:pPr>
            <a:endParaRPr/>
          </a:p>
        </p:txBody>
      </p:sp>
      <p:sp>
        <p:nvSpPr>
          <p:cNvPr id="326" name="Google Shape;326;g1ff21e9a6e0_0_138"/>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g1ff21e9a6e0_0_14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The top reasons for making the switch from native to hybrid, based</a:t>
            </a:r>
            <a:endParaRPr/>
          </a:p>
          <a:p>
            <a:pPr marL="0" lvl="0" indent="0" algn="l" rtl="0">
              <a:spcBef>
                <a:spcPts val="0"/>
              </a:spcBef>
              <a:spcAft>
                <a:spcPts val="0"/>
              </a:spcAft>
              <a:buClr>
                <a:schemeClr val="dk1"/>
              </a:buClr>
              <a:buSzPts val="1100"/>
              <a:buFont typeface="Arial"/>
              <a:buNone/>
            </a:pPr>
            <a:r>
              <a:rPr lang="en-US"/>
              <a:t>on independent research and testimonials, are:</a:t>
            </a:r>
            <a:endParaRPr/>
          </a:p>
          <a:p>
            <a:pPr marL="0" lvl="0" indent="0" algn="l" rtl="0">
              <a:spcBef>
                <a:spcPts val="0"/>
              </a:spcBef>
              <a:spcAft>
                <a:spcPts val="0"/>
              </a:spcAft>
              <a:buClr>
                <a:schemeClr val="dk1"/>
              </a:buClr>
              <a:buSzPts val="1100"/>
              <a:buFont typeface="Arial"/>
              <a:buNone/>
            </a:pPr>
            <a:endParaRPr/>
          </a:p>
          <a:p>
            <a:pPr marL="457200" lvl="0" indent="-342900" algn="l" rtl="0">
              <a:spcBef>
                <a:spcPts val="0"/>
              </a:spcBef>
              <a:spcAft>
                <a:spcPts val="0"/>
              </a:spcAft>
              <a:buSzPts val="1800"/>
              <a:buChar char="•"/>
            </a:pPr>
            <a:r>
              <a:rPr lang="en-US"/>
              <a:t>speed</a:t>
            </a:r>
            <a:endParaRPr/>
          </a:p>
          <a:p>
            <a:pPr marL="457200" lvl="0" indent="-342900" algn="l" rtl="0">
              <a:spcBef>
                <a:spcPts val="0"/>
              </a:spcBef>
              <a:spcAft>
                <a:spcPts val="0"/>
              </a:spcAft>
              <a:buSzPts val="1800"/>
              <a:buChar char="•"/>
            </a:pPr>
            <a:r>
              <a:rPr lang="en-US"/>
              <a:t>efficiency</a:t>
            </a:r>
            <a:endParaRPr/>
          </a:p>
          <a:p>
            <a:pPr marL="457200" lvl="0" indent="-342900" algn="l" rtl="0">
              <a:spcBef>
                <a:spcPts val="0"/>
              </a:spcBef>
              <a:spcAft>
                <a:spcPts val="0"/>
              </a:spcAft>
              <a:buSzPts val="1800"/>
              <a:buChar char="•"/>
            </a:pPr>
            <a:r>
              <a:rPr lang="en-US"/>
              <a:t>design &amp; UX</a:t>
            </a:r>
            <a:endParaRPr/>
          </a:p>
          <a:p>
            <a:pPr marL="457200" lvl="0" indent="-342900" algn="l" rtl="0">
              <a:spcBef>
                <a:spcPts val="0"/>
              </a:spcBef>
              <a:spcAft>
                <a:spcPts val="0"/>
              </a:spcAft>
              <a:buSzPts val="1800"/>
              <a:buChar char="•"/>
            </a:pPr>
            <a:r>
              <a:rPr lang="en-US"/>
              <a:t>skillset</a:t>
            </a:r>
            <a:endParaRPr/>
          </a:p>
          <a:p>
            <a:pPr marL="0" lvl="0" indent="0" algn="l" rtl="0">
              <a:lnSpc>
                <a:spcPct val="90000"/>
              </a:lnSpc>
              <a:spcBef>
                <a:spcPts val="0"/>
              </a:spcBef>
              <a:spcAft>
                <a:spcPts val="0"/>
              </a:spcAft>
              <a:buSzPts val="1800"/>
              <a:buNone/>
            </a:pPr>
            <a:endParaRPr/>
          </a:p>
        </p:txBody>
      </p:sp>
      <p:sp>
        <p:nvSpPr>
          <p:cNvPr id="333" name="Google Shape;333;g1ff21e9a6e0_0_14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1ff21e9a6e0_0_193"/>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Speed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Building for multiple platforms from a single codebase often makes</a:t>
            </a:r>
            <a:endParaRPr/>
          </a:p>
          <a:p>
            <a:pPr marL="0" lvl="0" indent="0" algn="l" rtl="0">
              <a:spcBef>
                <a:spcPts val="0"/>
              </a:spcBef>
              <a:spcAft>
                <a:spcPts val="0"/>
              </a:spcAft>
              <a:buClr>
                <a:schemeClr val="dk1"/>
              </a:buClr>
              <a:buSzPts val="1100"/>
              <a:buFont typeface="Arial"/>
              <a:buNone/>
            </a:pPr>
            <a:r>
              <a:rPr lang="en-US"/>
              <a:t>delivering cross-platform apps 2-3x faster than native. </a:t>
            </a:r>
            <a:br>
              <a:rPr lang="en-US"/>
            </a:br>
            <a:br>
              <a:rPr lang="en-US"/>
            </a:br>
            <a:r>
              <a:rPr lang="en-US"/>
              <a:t>As you use the same technology between multiple codebase (or technically this become only one codebase) you can factorise the R&amp;D and building the core solution.</a:t>
            </a:r>
            <a:endParaRPr/>
          </a:p>
          <a:p>
            <a:pPr marL="0" lvl="0" indent="0" algn="l" rtl="0">
              <a:lnSpc>
                <a:spcPct val="90000"/>
              </a:lnSpc>
              <a:spcBef>
                <a:spcPts val="0"/>
              </a:spcBef>
              <a:spcAft>
                <a:spcPts val="0"/>
              </a:spcAft>
              <a:buSzPts val="1800"/>
              <a:buNone/>
            </a:pPr>
            <a:endParaRPr/>
          </a:p>
        </p:txBody>
      </p:sp>
      <p:sp>
        <p:nvSpPr>
          <p:cNvPr id="340" name="Google Shape;340;g1ff21e9a6e0_0_193"/>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g1ff21e9a6e0_0_199"/>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00"/>
              <a:buNone/>
            </a:pPr>
            <a:r>
              <a:rPr lang="en-US"/>
              <a:t>Efficiency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Reduced development times, and the avoided costs of hiring and</a:t>
            </a:r>
            <a:endParaRPr/>
          </a:p>
          <a:p>
            <a:pPr marL="0" lvl="0" indent="0" algn="l" rtl="0">
              <a:spcBef>
                <a:spcPts val="0"/>
              </a:spcBef>
              <a:spcAft>
                <a:spcPts val="0"/>
              </a:spcAft>
              <a:buClr>
                <a:schemeClr val="dk1"/>
              </a:buClr>
              <a:buSzPts val="1100"/>
              <a:buFont typeface="Arial"/>
              <a:buNone/>
            </a:pPr>
            <a:r>
              <a:rPr lang="en-US"/>
              <a:t>retaining specialized native talent, can save team 60% or more</a:t>
            </a:r>
            <a:endParaRPr/>
          </a:p>
          <a:p>
            <a:pPr marL="0" lvl="0" indent="0" algn="l" rtl="0">
              <a:spcBef>
                <a:spcPts val="0"/>
              </a:spcBef>
              <a:spcAft>
                <a:spcPts val="0"/>
              </a:spcAft>
              <a:buSzPts val="1100"/>
              <a:buNone/>
            </a:pPr>
            <a:r>
              <a:rPr lang="en-US"/>
              <a:t>compared to native.</a:t>
            </a: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r>
              <a:rPr lang="en-US"/>
              <a:t>With one language to develop them all, it is also easier to have good senior engineers that can move across projects, without learning a new stack.</a:t>
            </a:r>
            <a:endParaRPr/>
          </a:p>
          <a:p>
            <a:pPr marL="0" lvl="0" indent="0" algn="l" rtl="0">
              <a:lnSpc>
                <a:spcPct val="90000"/>
              </a:lnSpc>
              <a:spcBef>
                <a:spcPts val="0"/>
              </a:spcBef>
              <a:spcAft>
                <a:spcPts val="0"/>
              </a:spcAft>
              <a:buSzPts val="1800"/>
              <a:buNone/>
            </a:pPr>
            <a:endParaRPr/>
          </a:p>
        </p:txBody>
      </p:sp>
      <p:sp>
        <p:nvSpPr>
          <p:cNvPr id="347" name="Google Shape;347;g1ff21e9a6e0_0_199"/>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1ff21e9a6e0_0_205"/>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Design &amp; UX</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With one codebase running on desktop, mobile, and web, hybrid apps</a:t>
            </a:r>
            <a:endParaRPr/>
          </a:p>
          <a:p>
            <a:pPr marL="0" lvl="0" indent="0" algn="l" rtl="0">
              <a:spcBef>
                <a:spcPts val="0"/>
              </a:spcBef>
              <a:spcAft>
                <a:spcPts val="0"/>
              </a:spcAft>
              <a:buSzPts val="1100"/>
              <a:buNone/>
            </a:pPr>
            <a:r>
              <a:rPr lang="en-US"/>
              <a:t>provide better design and UX consistency across channels.</a:t>
            </a:r>
            <a:endParaRPr/>
          </a:p>
          <a:p>
            <a:pPr marL="0" lvl="0" indent="0" algn="l" rtl="0">
              <a:spcBef>
                <a:spcPts val="0"/>
              </a:spcBef>
              <a:spcAft>
                <a:spcPts val="0"/>
              </a:spcAft>
              <a:buClr>
                <a:schemeClr val="dk1"/>
              </a:buClr>
              <a:buSzPts val="1100"/>
              <a:buFont typeface="Arial"/>
              <a:buNone/>
            </a:pPr>
            <a:r>
              <a:rPr lang="en-US"/>
              <a:t>This also help to harmonize how the application render, helping with the branding and visual of all the application.</a:t>
            </a:r>
            <a:br>
              <a:rPr lang="en-US"/>
            </a:br>
            <a:br>
              <a:rPr lang="en-US"/>
            </a:br>
            <a:r>
              <a:rPr lang="en-US"/>
              <a:t>For example, having the same visual effect between Android and iOS applications an be quite hard normally (you can check apps like facebook, twitter or instagram)</a:t>
            </a:r>
            <a:endParaRPr/>
          </a:p>
          <a:p>
            <a:pPr marL="0" lvl="0" indent="0" algn="l" rtl="0">
              <a:lnSpc>
                <a:spcPct val="90000"/>
              </a:lnSpc>
              <a:spcBef>
                <a:spcPts val="0"/>
              </a:spcBef>
              <a:spcAft>
                <a:spcPts val="0"/>
              </a:spcAft>
              <a:buSzPts val="1800"/>
              <a:buNone/>
            </a:pPr>
            <a:endParaRPr/>
          </a:p>
        </p:txBody>
      </p:sp>
      <p:sp>
        <p:nvSpPr>
          <p:cNvPr id="354" name="Google Shape;354;g1ff21e9a6e0_0_205"/>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1ff21e9a6e0_0_211"/>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Skillset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Hybrid gives web developers and businesses with in-house web</a:t>
            </a:r>
            <a:endParaRPr/>
          </a:p>
          <a:p>
            <a:pPr marL="0" lvl="0" indent="0" algn="l" rtl="0">
              <a:spcBef>
                <a:spcPts val="0"/>
              </a:spcBef>
              <a:spcAft>
                <a:spcPts val="0"/>
              </a:spcAft>
              <a:buClr>
                <a:schemeClr val="dk1"/>
              </a:buClr>
              <a:buSzPts val="1100"/>
              <a:buFont typeface="Arial"/>
              <a:buNone/>
            </a:pPr>
            <a:r>
              <a:rPr lang="en-US"/>
              <a:t>teams the tools to build powerful mobile apps using their existing</a:t>
            </a:r>
            <a:endParaRPr/>
          </a:p>
          <a:p>
            <a:pPr marL="0" lvl="0" indent="0" algn="l" rtl="0">
              <a:spcBef>
                <a:spcPts val="0"/>
              </a:spcBef>
              <a:spcAft>
                <a:spcPts val="0"/>
              </a:spcAft>
              <a:buSzPts val="1100"/>
              <a:buNone/>
            </a:pPr>
            <a:r>
              <a:rPr lang="en-US"/>
              <a:t>skills and talent.</a:t>
            </a: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r>
              <a:rPr lang="en-US"/>
              <a:t>You have less need to train or hire a dedicated team to support a specific device, and this could even include smart TV for example.</a:t>
            </a:r>
            <a:endParaRPr/>
          </a:p>
          <a:p>
            <a:pPr marL="0" lvl="0" indent="0" algn="l" rtl="0">
              <a:lnSpc>
                <a:spcPct val="90000"/>
              </a:lnSpc>
              <a:spcBef>
                <a:spcPts val="0"/>
              </a:spcBef>
              <a:spcAft>
                <a:spcPts val="0"/>
              </a:spcAft>
              <a:buSzPts val="1800"/>
              <a:buNone/>
            </a:pPr>
            <a:endParaRPr/>
          </a:p>
        </p:txBody>
      </p:sp>
      <p:sp>
        <p:nvSpPr>
          <p:cNvPr id="361" name="Google Shape;361;g1ff21e9a6e0_0_211"/>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1ff21e9a6e0_0_217"/>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So, what's a hybrid app?</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Hybrid apps are native apps. They’re downloaded from the platform’s</a:t>
            </a:r>
            <a:endParaRPr/>
          </a:p>
          <a:p>
            <a:pPr marL="0" lvl="0" indent="0" algn="l" rtl="0">
              <a:spcBef>
                <a:spcPts val="0"/>
              </a:spcBef>
              <a:spcAft>
                <a:spcPts val="0"/>
              </a:spcAft>
              <a:buClr>
                <a:schemeClr val="dk1"/>
              </a:buClr>
              <a:buSzPts val="1100"/>
              <a:buFont typeface="Arial"/>
              <a:buNone/>
            </a:pPr>
            <a:r>
              <a:rPr lang="en-US"/>
              <a:t>App Store or marketplace.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They also offer the same native features, offline support, and</a:t>
            </a:r>
            <a:endParaRPr/>
          </a:p>
          <a:p>
            <a:pPr marL="0" lvl="0" indent="0" algn="l" rtl="0">
              <a:spcBef>
                <a:spcPts val="0"/>
              </a:spcBef>
              <a:spcAft>
                <a:spcPts val="0"/>
              </a:spcAft>
              <a:buClr>
                <a:schemeClr val="dk1"/>
              </a:buClr>
              <a:buSzPts val="1100"/>
              <a:buFont typeface="Arial"/>
              <a:buNone/>
            </a:pPr>
            <a:r>
              <a:rPr lang="en-US"/>
              <a:t>hardware-based performance acceleration as any app built with a</a:t>
            </a:r>
            <a:endParaRPr/>
          </a:p>
          <a:p>
            <a:pPr marL="0" lvl="0" indent="0" algn="l" rtl="0">
              <a:spcBef>
                <a:spcPts val="0"/>
              </a:spcBef>
              <a:spcAft>
                <a:spcPts val="0"/>
              </a:spcAft>
              <a:buClr>
                <a:schemeClr val="dk1"/>
              </a:buClr>
              <a:buSzPts val="1100"/>
              <a:buFont typeface="Arial"/>
              <a:buNone/>
            </a:pPr>
            <a:r>
              <a:rPr lang="en-US"/>
              <a:t>native SDK.</a:t>
            </a:r>
            <a:endParaRPr/>
          </a:p>
          <a:p>
            <a:pPr marL="0" lvl="0" indent="0" algn="l" rtl="0">
              <a:lnSpc>
                <a:spcPct val="90000"/>
              </a:lnSpc>
              <a:spcBef>
                <a:spcPts val="0"/>
              </a:spcBef>
              <a:spcAft>
                <a:spcPts val="0"/>
              </a:spcAft>
              <a:buSzPts val="1800"/>
              <a:buNone/>
            </a:pPr>
            <a:endParaRPr/>
          </a:p>
        </p:txBody>
      </p:sp>
      <p:sp>
        <p:nvSpPr>
          <p:cNvPr id="368" name="Google Shape;368;g1ff21e9a6e0_0_217"/>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g1ff21e9a6e0_0_228"/>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The key difference is that hybrid apps are built using open web</a:t>
            </a:r>
            <a:endParaRPr/>
          </a:p>
          <a:p>
            <a:pPr marL="0" lvl="0" indent="0" algn="l" rtl="0">
              <a:spcBef>
                <a:spcPts val="0"/>
              </a:spcBef>
              <a:spcAft>
                <a:spcPts val="0"/>
              </a:spcAft>
              <a:buClr>
                <a:schemeClr val="dk1"/>
              </a:buClr>
              <a:buSzPts val="1100"/>
              <a:buFont typeface="Arial"/>
              <a:buNone/>
            </a:pPr>
            <a:r>
              <a:rPr lang="en-US"/>
              <a:t>technologies like HTML, CSS, and JavaScript, rather than the</a:t>
            </a:r>
            <a:endParaRPr/>
          </a:p>
          <a:p>
            <a:pPr marL="0" lvl="0" indent="0" algn="l" rtl="0">
              <a:spcBef>
                <a:spcPts val="0"/>
              </a:spcBef>
              <a:spcAft>
                <a:spcPts val="0"/>
              </a:spcAft>
              <a:buClr>
                <a:schemeClr val="dk1"/>
              </a:buClr>
              <a:buSzPts val="1100"/>
              <a:buFont typeface="Arial"/>
              <a:buNone/>
            </a:pPr>
            <a:r>
              <a:rPr lang="en-US"/>
              <a:t>proprietary or specialized languages used by iOS, Android, and</a:t>
            </a:r>
            <a:endParaRPr/>
          </a:p>
          <a:p>
            <a:pPr marL="0" lvl="0" indent="0" algn="l" rtl="0">
              <a:spcBef>
                <a:spcPts val="0"/>
              </a:spcBef>
              <a:spcAft>
                <a:spcPts val="0"/>
              </a:spcAft>
              <a:buClr>
                <a:schemeClr val="dk1"/>
              </a:buClr>
              <a:buSzPts val="1100"/>
              <a:buFont typeface="Arial"/>
              <a:buNone/>
            </a:pPr>
            <a:r>
              <a:rPr lang="en-US"/>
              <a:t>others.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That means anyone with a modern web developer skill-set can begin</a:t>
            </a:r>
            <a:endParaRPr/>
          </a:p>
          <a:p>
            <a:pPr marL="0" lvl="0" indent="0" algn="l" rtl="0">
              <a:spcBef>
                <a:spcPts val="0"/>
              </a:spcBef>
              <a:spcAft>
                <a:spcPts val="0"/>
              </a:spcAft>
              <a:buClr>
                <a:schemeClr val="dk1"/>
              </a:buClr>
              <a:buSzPts val="1100"/>
              <a:buFont typeface="Arial"/>
              <a:buNone/>
            </a:pPr>
            <a:r>
              <a:rPr lang="en-US"/>
              <a:t>building an app using the hybrid approach.</a:t>
            </a:r>
            <a:endParaRPr/>
          </a:p>
          <a:p>
            <a:pPr marL="0" lvl="0" indent="0" algn="l" rtl="0">
              <a:lnSpc>
                <a:spcPct val="90000"/>
              </a:lnSpc>
              <a:spcBef>
                <a:spcPts val="0"/>
              </a:spcBef>
              <a:spcAft>
                <a:spcPts val="0"/>
              </a:spcAft>
              <a:buSzPts val="1800"/>
              <a:buNone/>
            </a:pPr>
            <a:endParaRPr/>
          </a:p>
        </p:txBody>
      </p:sp>
      <p:sp>
        <p:nvSpPr>
          <p:cNvPr id="375" name="Google Shape;375;g1ff21e9a6e0_0_228"/>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g1ff21e9a6e0_0_23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Hybrid apps run in a full-screen browser, called a webview, that is</a:t>
            </a:r>
            <a:endParaRPr/>
          </a:p>
          <a:p>
            <a:pPr marL="0" lvl="0" indent="0" algn="l" rtl="0">
              <a:spcBef>
                <a:spcPts val="0"/>
              </a:spcBef>
              <a:spcAft>
                <a:spcPts val="0"/>
              </a:spcAft>
              <a:buClr>
                <a:schemeClr val="dk1"/>
              </a:buClr>
              <a:buSzPts val="1100"/>
              <a:buFont typeface="Arial"/>
              <a:buNone/>
            </a:pPr>
            <a:r>
              <a:rPr lang="en-US"/>
              <a:t>invisible to the user. Through customizable native plugins, they can</a:t>
            </a:r>
            <a:endParaRPr/>
          </a:p>
          <a:p>
            <a:pPr marL="0" lvl="0" indent="0" algn="l" rtl="0">
              <a:spcBef>
                <a:spcPts val="0"/>
              </a:spcBef>
              <a:spcAft>
                <a:spcPts val="0"/>
              </a:spcAft>
              <a:buClr>
                <a:schemeClr val="dk1"/>
              </a:buClr>
              <a:buSzPts val="1100"/>
              <a:buFont typeface="Arial"/>
              <a:buNone/>
            </a:pPr>
            <a:r>
              <a:rPr lang="en-US"/>
              <a:t>access the native features of specific mobile devices (such as the</a:t>
            </a:r>
            <a:endParaRPr/>
          </a:p>
          <a:p>
            <a:pPr marL="0" lvl="0" indent="0" algn="l" rtl="0">
              <a:spcBef>
                <a:spcPts val="0"/>
              </a:spcBef>
              <a:spcAft>
                <a:spcPts val="0"/>
              </a:spcAft>
              <a:buClr>
                <a:schemeClr val="dk1"/>
              </a:buClr>
              <a:buSzPts val="1100"/>
              <a:buFont typeface="Arial"/>
              <a:buNone/>
            </a:pPr>
            <a:r>
              <a:rPr lang="en-US"/>
              <a:t>camera or touch ID), without the core code being tied to that device.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That means cross-platform hybrid applications can run on any</a:t>
            </a:r>
            <a:endParaRPr/>
          </a:p>
          <a:p>
            <a:pPr marL="0" lvl="0" indent="0" algn="l" rtl="0">
              <a:spcBef>
                <a:spcPts val="0"/>
              </a:spcBef>
              <a:spcAft>
                <a:spcPts val="0"/>
              </a:spcAft>
              <a:buClr>
                <a:schemeClr val="dk1"/>
              </a:buClr>
              <a:buSzPts val="1100"/>
              <a:buFont typeface="Arial"/>
              <a:buNone/>
            </a:pPr>
            <a:r>
              <a:rPr lang="en-US"/>
              <a:t>platform or device, all from a single codebase, while still delivering</a:t>
            </a:r>
            <a:endParaRPr/>
          </a:p>
          <a:p>
            <a:pPr marL="0" lvl="0" indent="0" algn="l" rtl="0">
              <a:spcBef>
                <a:spcPts val="0"/>
              </a:spcBef>
              <a:spcAft>
                <a:spcPts val="0"/>
              </a:spcAft>
              <a:buClr>
                <a:schemeClr val="dk1"/>
              </a:buClr>
              <a:buSzPts val="1100"/>
              <a:buFont typeface="Arial"/>
              <a:buNone/>
            </a:pPr>
            <a:r>
              <a:rPr lang="en-US"/>
              <a:t>native performance.</a:t>
            </a:r>
            <a:endParaRPr/>
          </a:p>
          <a:p>
            <a:pPr marL="0" lvl="0" indent="0" algn="l" rtl="0">
              <a:lnSpc>
                <a:spcPct val="90000"/>
              </a:lnSpc>
              <a:spcBef>
                <a:spcPts val="0"/>
              </a:spcBef>
              <a:spcAft>
                <a:spcPts val="0"/>
              </a:spcAft>
              <a:buSzPts val="1800"/>
              <a:buNone/>
            </a:pPr>
            <a:endParaRPr/>
          </a:p>
        </p:txBody>
      </p:sp>
      <p:sp>
        <p:nvSpPr>
          <p:cNvPr id="382" name="Google Shape;382;g1ff21e9a6e0_0_23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g1ff21e9a6e0_0_24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Following the native approach, that means you need to build separate</a:t>
            </a:r>
            <a:endParaRPr/>
          </a:p>
          <a:p>
            <a:pPr marL="0" lvl="0" indent="0" algn="l" rtl="0">
              <a:spcBef>
                <a:spcPts val="0"/>
              </a:spcBef>
              <a:spcAft>
                <a:spcPts val="0"/>
              </a:spcAft>
              <a:buClr>
                <a:schemeClr val="dk1"/>
              </a:buClr>
              <a:buSzPts val="1100"/>
              <a:buFont typeface="Arial"/>
              <a:buNone/>
            </a:pPr>
            <a:r>
              <a:rPr lang="en-US"/>
              <a:t>apps for each mobile platform, and sometimes specific apps for</a:t>
            </a:r>
            <a:endParaRPr/>
          </a:p>
          <a:p>
            <a:pPr marL="0" lvl="0" indent="0" algn="l" rtl="0">
              <a:spcBef>
                <a:spcPts val="0"/>
              </a:spcBef>
              <a:spcAft>
                <a:spcPts val="0"/>
              </a:spcAft>
              <a:buClr>
                <a:schemeClr val="dk1"/>
              </a:buClr>
              <a:buSzPts val="1100"/>
              <a:buFont typeface="Arial"/>
              <a:buNone/>
            </a:pPr>
            <a:r>
              <a:rPr lang="en-US"/>
              <a:t>tablets and smartphones. If you want to target all device for a TV app (like netflix), how many application should you build?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This is where hybrid development shines.</a:t>
            </a:r>
            <a:endParaRPr/>
          </a:p>
          <a:p>
            <a:pPr marL="0" lvl="0" indent="0" algn="l" rtl="0">
              <a:lnSpc>
                <a:spcPct val="90000"/>
              </a:lnSpc>
              <a:spcBef>
                <a:spcPts val="0"/>
              </a:spcBef>
              <a:spcAft>
                <a:spcPts val="0"/>
              </a:spcAft>
              <a:buSzPts val="1800"/>
              <a:buNone/>
            </a:pPr>
            <a:endParaRPr/>
          </a:p>
        </p:txBody>
      </p:sp>
      <p:sp>
        <p:nvSpPr>
          <p:cNvPr id="389" name="Google Shape;389;g1ff21e9a6e0_0_24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g1ff21e9a6e0_0_246"/>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With a hybrid framework like Ionic, you can run your app on any</a:t>
            </a:r>
            <a:endParaRPr/>
          </a:p>
          <a:p>
            <a:pPr marL="0" lvl="0" indent="0" algn="l" rtl="0">
              <a:spcBef>
                <a:spcPts val="0"/>
              </a:spcBef>
              <a:spcAft>
                <a:spcPts val="0"/>
              </a:spcAft>
              <a:buClr>
                <a:schemeClr val="dk1"/>
              </a:buClr>
              <a:buSzPts val="1100"/>
              <a:buFont typeface="Arial"/>
              <a:buNone/>
            </a:pPr>
            <a:r>
              <a:rPr lang="en-US"/>
              <a:t>platform or device, all from a single codebase.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Ionic also provides adaptive styling, so the look-and-feel of your app</a:t>
            </a:r>
            <a:endParaRPr/>
          </a:p>
          <a:p>
            <a:pPr marL="0" lvl="0" indent="0" algn="l" rtl="0">
              <a:spcBef>
                <a:spcPts val="0"/>
              </a:spcBef>
              <a:spcAft>
                <a:spcPts val="0"/>
              </a:spcAft>
              <a:buClr>
                <a:schemeClr val="dk1"/>
              </a:buClr>
              <a:buSzPts val="1100"/>
              <a:buFont typeface="Arial"/>
              <a:buNone/>
            </a:pPr>
            <a:r>
              <a:rPr lang="en-US"/>
              <a:t>isn’t one-size-fits-all.</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It automatically adapts to each platform.</a:t>
            </a:r>
            <a:endParaRPr/>
          </a:p>
          <a:p>
            <a:pPr marL="0" lvl="0" indent="0" algn="l" rtl="0">
              <a:lnSpc>
                <a:spcPct val="90000"/>
              </a:lnSpc>
              <a:spcBef>
                <a:spcPts val="0"/>
              </a:spcBef>
              <a:spcAft>
                <a:spcPts val="0"/>
              </a:spcAft>
              <a:buSzPts val="1800"/>
              <a:buNone/>
            </a:pPr>
            <a:endParaRPr/>
          </a:p>
        </p:txBody>
      </p:sp>
      <p:sp>
        <p:nvSpPr>
          <p:cNvPr id="396" name="Google Shape;396;g1ff21e9a6e0_0_246"/>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g1ff21e9a6e0_0_252"/>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And because hybrid technology is web-based, you can run your app in</a:t>
            </a:r>
            <a:endParaRPr/>
          </a:p>
          <a:p>
            <a:pPr marL="0" lvl="0" indent="0" algn="l" rtl="0">
              <a:spcBef>
                <a:spcPts val="0"/>
              </a:spcBef>
              <a:spcAft>
                <a:spcPts val="0"/>
              </a:spcAft>
              <a:buClr>
                <a:schemeClr val="dk1"/>
              </a:buClr>
              <a:buSzPts val="1100"/>
              <a:buFont typeface="Arial"/>
              <a:buNone/>
            </a:pPr>
            <a:r>
              <a:rPr lang="en-US"/>
              <a:t>any modern browser, for example Chrome - Firefox - Opera...</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That means your users get a great experience across platforms and</a:t>
            </a:r>
            <a:endParaRPr/>
          </a:p>
          <a:p>
            <a:pPr marL="0" lvl="0" indent="0" algn="l" rtl="0">
              <a:spcBef>
                <a:spcPts val="0"/>
              </a:spcBef>
              <a:spcAft>
                <a:spcPts val="0"/>
              </a:spcAft>
              <a:buClr>
                <a:schemeClr val="dk1"/>
              </a:buClr>
              <a:buSzPts val="1100"/>
              <a:buFont typeface="Arial"/>
              <a:buNone/>
            </a:pPr>
            <a:r>
              <a:rPr lang="en-US"/>
              <a:t>devices, and you only have one codebase to worry about.</a:t>
            </a:r>
            <a:endParaRPr/>
          </a:p>
          <a:p>
            <a:pPr marL="0" lvl="0" indent="0" algn="l" rtl="0">
              <a:lnSpc>
                <a:spcPct val="90000"/>
              </a:lnSpc>
              <a:spcBef>
                <a:spcPts val="0"/>
              </a:spcBef>
              <a:spcAft>
                <a:spcPts val="0"/>
              </a:spcAft>
              <a:buSzPts val="1800"/>
              <a:buNone/>
            </a:pPr>
            <a:endParaRPr/>
          </a:p>
        </p:txBody>
      </p:sp>
      <p:sp>
        <p:nvSpPr>
          <p:cNvPr id="403" name="Google Shape;403;g1ff21e9a6e0_0_252"/>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g1ff21e9a6e0_0_258"/>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Write once Run everywhere (like Java ? :D)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Rarely is a mobile app only designed for a single platform.</a:t>
            </a:r>
            <a:endParaRPr/>
          </a:p>
          <a:p>
            <a:pPr marL="0" lvl="0" indent="0" algn="l" rtl="0">
              <a:spcBef>
                <a:spcPts val="0"/>
              </a:spcBef>
              <a:spcAft>
                <a:spcPts val="0"/>
              </a:spcAft>
              <a:buClr>
                <a:schemeClr val="dk1"/>
              </a:buClr>
              <a:buSzPts val="1100"/>
              <a:buFont typeface="Arial"/>
              <a:buNone/>
            </a:pPr>
            <a:r>
              <a:rPr lang="en-US"/>
              <a:t>Consumers, partners, and employees all have a choice of platforms</a:t>
            </a:r>
            <a:endParaRPr/>
          </a:p>
          <a:p>
            <a:pPr marL="0" lvl="0" indent="0" algn="l" rtl="0">
              <a:spcBef>
                <a:spcPts val="0"/>
              </a:spcBef>
              <a:spcAft>
                <a:spcPts val="0"/>
              </a:spcAft>
              <a:buClr>
                <a:schemeClr val="dk1"/>
              </a:buClr>
              <a:buSzPts val="1100"/>
              <a:buFont typeface="Arial"/>
              <a:buNone/>
            </a:pPr>
            <a:r>
              <a:rPr lang="en-US"/>
              <a:t>and devices.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Following the native approach, that means you need to build separate</a:t>
            </a:r>
            <a:endParaRPr/>
          </a:p>
          <a:p>
            <a:pPr marL="0" lvl="0" indent="0" algn="l" rtl="0">
              <a:spcBef>
                <a:spcPts val="0"/>
              </a:spcBef>
              <a:spcAft>
                <a:spcPts val="0"/>
              </a:spcAft>
              <a:buClr>
                <a:schemeClr val="dk1"/>
              </a:buClr>
              <a:buSzPts val="1100"/>
              <a:buFont typeface="Arial"/>
              <a:buNone/>
            </a:pPr>
            <a:r>
              <a:rPr lang="en-US"/>
              <a:t>apps for each mobile platform, and sometimes specific apps for</a:t>
            </a:r>
            <a:endParaRPr/>
          </a:p>
          <a:p>
            <a:pPr marL="0" lvl="0" indent="0" algn="l" rtl="0">
              <a:spcBef>
                <a:spcPts val="0"/>
              </a:spcBef>
              <a:spcAft>
                <a:spcPts val="0"/>
              </a:spcAft>
              <a:buClr>
                <a:schemeClr val="dk1"/>
              </a:buClr>
              <a:buSzPts val="1100"/>
              <a:buFont typeface="Arial"/>
              <a:buNone/>
            </a:pPr>
            <a:r>
              <a:rPr lang="en-US"/>
              <a:t>tablets and smartphones.</a:t>
            </a:r>
            <a:endParaRPr/>
          </a:p>
          <a:p>
            <a:pPr marL="0" lvl="0" indent="0" algn="l" rtl="0">
              <a:lnSpc>
                <a:spcPct val="90000"/>
              </a:lnSpc>
              <a:spcBef>
                <a:spcPts val="0"/>
              </a:spcBef>
              <a:spcAft>
                <a:spcPts val="0"/>
              </a:spcAft>
              <a:buSzPts val="1800"/>
              <a:buNone/>
            </a:pPr>
            <a:endParaRPr/>
          </a:p>
        </p:txBody>
      </p:sp>
      <p:sp>
        <p:nvSpPr>
          <p:cNvPr id="410" name="Google Shape;410;g1ff21e9a6e0_0_258"/>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g1ff21e9a6e0_0_26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The web developer community is about 10x greater in size than the</a:t>
            </a:r>
            <a:endParaRPr/>
          </a:p>
          <a:p>
            <a:pPr marL="0" lvl="0" indent="0" algn="l" rtl="0">
              <a:spcBef>
                <a:spcPts val="0"/>
              </a:spcBef>
              <a:spcAft>
                <a:spcPts val="0"/>
              </a:spcAft>
              <a:buClr>
                <a:schemeClr val="dk1"/>
              </a:buClr>
              <a:buSzPts val="1100"/>
              <a:buFont typeface="Arial"/>
              <a:buNone/>
            </a:pPr>
            <a:r>
              <a:rPr lang="en-US"/>
              <a:t>number of native mobile app developers, according to the Stack</a:t>
            </a:r>
            <a:endParaRPr/>
          </a:p>
          <a:p>
            <a:pPr marL="0" lvl="0" indent="0" algn="l" rtl="0">
              <a:spcBef>
                <a:spcPts val="0"/>
              </a:spcBef>
              <a:spcAft>
                <a:spcPts val="0"/>
              </a:spcAft>
              <a:buClr>
                <a:schemeClr val="dk1"/>
              </a:buClr>
              <a:buSzPts val="1100"/>
              <a:buFont typeface="Arial"/>
              <a:buNone/>
            </a:pPr>
            <a:r>
              <a:rPr lang="en-US"/>
              <a:t>Overflow survey.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Many development teams already have a deep bench of programmers</a:t>
            </a:r>
            <a:endParaRPr/>
          </a:p>
          <a:p>
            <a:pPr marL="0" lvl="0" indent="0" algn="l" rtl="0">
              <a:spcBef>
                <a:spcPts val="0"/>
              </a:spcBef>
              <a:spcAft>
                <a:spcPts val="0"/>
              </a:spcAft>
              <a:buClr>
                <a:schemeClr val="dk1"/>
              </a:buClr>
              <a:buSzPts val="1100"/>
              <a:buFont typeface="Arial"/>
              <a:buNone/>
            </a:pPr>
            <a:r>
              <a:rPr lang="en-US"/>
              <a:t>who understand HTML, CSS and JavaScript.</a:t>
            </a:r>
            <a:endParaRPr/>
          </a:p>
          <a:p>
            <a:pPr marL="0" lvl="0" indent="0" algn="l" rtl="0">
              <a:lnSpc>
                <a:spcPct val="90000"/>
              </a:lnSpc>
              <a:spcBef>
                <a:spcPts val="0"/>
              </a:spcBef>
              <a:spcAft>
                <a:spcPts val="0"/>
              </a:spcAft>
              <a:buSzPts val="1800"/>
              <a:buNone/>
            </a:pPr>
            <a:endParaRPr/>
          </a:p>
        </p:txBody>
      </p:sp>
      <p:sp>
        <p:nvSpPr>
          <p:cNvPr id="417" name="Google Shape;417;g1ff21e9a6e0_0_26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1ff21e9a6e0_0_27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With a hybrid framework like Ionic, your existing web teams can build</a:t>
            </a:r>
            <a:endParaRPr/>
          </a:p>
          <a:p>
            <a:pPr marL="0" lvl="0" indent="0" algn="l" rtl="0">
              <a:spcBef>
                <a:spcPts val="0"/>
              </a:spcBef>
              <a:spcAft>
                <a:spcPts val="0"/>
              </a:spcAft>
              <a:buClr>
                <a:schemeClr val="dk1"/>
              </a:buClr>
              <a:buSzPts val="1100"/>
              <a:buFont typeface="Arial"/>
              <a:buNone/>
            </a:pPr>
            <a:r>
              <a:rPr lang="en-US"/>
              <a:t>highperformance apps that run on any platform or device, using the</a:t>
            </a:r>
            <a:endParaRPr/>
          </a:p>
          <a:p>
            <a:pPr marL="0" lvl="0" indent="0" algn="l" rtl="0">
              <a:spcBef>
                <a:spcPts val="0"/>
              </a:spcBef>
              <a:spcAft>
                <a:spcPts val="0"/>
              </a:spcAft>
              <a:buClr>
                <a:schemeClr val="dk1"/>
              </a:buClr>
              <a:buSzPts val="1100"/>
              <a:buFont typeface="Arial"/>
              <a:buNone/>
            </a:pPr>
            <a:r>
              <a:rPr lang="en-US"/>
              <a:t>tools and technology they already know and love.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That’s a lot easier than outsourcing development, or recruiting,</a:t>
            </a:r>
            <a:endParaRPr/>
          </a:p>
          <a:p>
            <a:pPr marL="0" lvl="0" indent="0" algn="l" rtl="0">
              <a:spcBef>
                <a:spcPts val="0"/>
              </a:spcBef>
              <a:spcAft>
                <a:spcPts val="0"/>
              </a:spcAft>
              <a:buClr>
                <a:schemeClr val="dk1"/>
              </a:buClr>
              <a:buSzPts val="1100"/>
              <a:buFont typeface="Arial"/>
              <a:buNone/>
            </a:pPr>
            <a:r>
              <a:rPr lang="en-US"/>
              <a:t>training, and hiring specialists.</a:t>
            </a:r>
            <a:endParaRPr/>
          </a:p>
          <a:p>
            <a:pPr marL="0" lvl="0" indent="0" algn="l" rtl="0">
              <a:lnSpc>
                <a:spcPct val="90000"/>
              </a:lnSpc>
              <a:spcBef>
                <a:spcPts val="0"/>
              </a:spcBef>
              <a:spcAft>
                <a:spcPts val="0"/>
              </a:spcAft>
              <a:buSzPts val="1800"/>
              <a:buNone/>
            </a:pPr>
            <a:endParaRPr/>
          </a:p>
        </p:txBody>
      </p:sp>
      <p:sp>
        <p:nvSpPr>
          <p:cNvPr id="424" name="Google Shape;424;g1ff21e9a6e0_0_27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1ff21e9a6e0_0_28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Plus, centralizing on a single skill set makes it much easier to reassign</a:t>
            </a:r>
            <a:endParaRPr/>
          </a:p>
          <a:p>
            <a:pPr marL="0" lvl="0" indent="0" algn="l" rtl="0">
              <a:spcBef>
                <a:spcPts val="0"/>
              </a:spcBef>
              <a:spcAft>
                <a:spcPts val="0"/>
              </a:spcAft>
              <a:buClr>
                <a:schemeClr val="dk1"/>
              </a:buClr>
              <a:buSzPts val="1100"/>
              <a:buFont typeface="Arial"/>
              <a:buNone/>
            </a:pPr>
            <a:r>
              <a:rPr lang="en-US"/>
              <a:t>teams when a project is finished - whether that’s a desktop web app</a:t>
            </a:r>
            <a:endParaRPr/>
          </a:p>
          <a:p>
            <a:pPr marL="0" lvl="0" indent="0" algn="l" rtl="0">
              <a:spcBef>
                <a:spcPts val="0"/>
              </a:spcBef>
              <a:spcAft>
                <a:spcPts val="0"/>
              </a:spcAft>
              <a:buSzPts val="1100"/>
              <a:buNone/>
            </a:pPr>
            <a:r>
              <a:rPr lang="en-US"/>
              <a:t>or another mobile project.</a:t>
            </a: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r>
              <a:rPr lang="en-US"/>
              <a:t>People can then move from one frontend solution to another one, with the same stack or something quite similar without the need to be retrained again and again.</a:t>
            </a:r>
            <a:endParaRPr/>
          </a:p>
          <a:p>
            <a:pPr marL="0" lvl="0" indent="0" algn="l" rtl="0">
              <a:lnSpc>
                <a:spcPct val="90000"/>
              </a:lnSpc>
              <a:spcBef>
                <a:spcPts val="0"/>
              </a:spcBef>
              <a:spcAft>
                <a:spcPts val="0"/>
              </a:spcAft>
              <a:buSzPts val="1800"/>
              <a:buNone/>
            </a:pPr>
            <a:endParaRPr/>
          </a:p>
        </p:txBody>
      </p:sp>
      <p:sp>
        <p:nvSpPr>
          <p:cNvPr id="431" name="Google Shape;431;g1ff21e9a6e0_0_28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g1ff21e9a6e0_0_29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endParaRPr/>
          </a:p>
        </p:txBody>
      </p:sp>
      <p:sp>
        <p:nvSpPr>
          <p:cNvPr id="438" name="Google Shape;438;g1ff21e9a6e0_0_29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pic>
        <p:nvPicPr>
          <p:cNvPr id="439" name="Google Shape;439;g1ff21e9a6e0_0_290" title="ionic.png"/>
          <p:cNvPicPr preferRelativeResize="0"/>
          <p:nvPr/>
        </p:nvPicPr>
        <p:blipFill>
          <a:blip r:embed="rId3">
            <a:alphaModFix/>
          </a:blip>
          <a:stretch>
            <a:fillRect/>
          </a:stretch>
        </p:blipFill>
        <p:spPr>
          <a:xfrm>
            <a:off x="2188038" y="1083450"/>
            <a:ext cx="7815925" cy="55828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g1ff21e9a6e0_0_296"/>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endParaRPr/>
          </a:p>
        </p:txBody>
      </p:sp>
      <p:sp>
        <p:nvSpPr>
          <p:cNvPr id="446" name="Google Shape;446;g1ff21e9a6e0_0_296"/>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pic>
        <p:nvPicPr>
          <p:cNvPr id="447" name="Google Shape;447;g1ff21e9a6e0_0_296" title="ionic2.png"/>
          <p:cNvPicPr preferRelativeResize="0"/>
          <p:nvPr/>
        </p:nvPicPr>
        <p:blipFill>
          <a:blip r:embed="rId3">
            <a:alphaModFix/>
          </a:blip>
          <a:stretch>
            <a:fillRect/>
          </a:stretch>
        </p:blipFill>
        <p:spPr>
          <a:xfrm>
            <a:off x="2182325" y="1079363"/>
            <a:ext cx="7827351" cy="55909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g1ff21e9a6e0_0_302"/>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Native advocates will claim that only a native approach can deliver</a:t>
            </a:r>
            <a:endParaRPr/>
          </a:p>
          <a:p>
            <a:pPr marL="0" lvl="0" indent="0" algn="l" rtl="0">
              <a:spcBef>
                <a:spcPts val="0"/>
              </a:spcBef>
              <a:spcAft>
                <a:spcPts val="0"/>
              </a:spcAft>
              <a:buClr>
                <a:schemeClr val="dk1"/>
              </a:buClr>
              <a:buSzPts val="1100"/>
              <a:buFont typeface="Arial"/>
              <a:buNone/>
            </a:pPr>
            <a:r>
              <a:rPr lang="en-US"/>
              <a:t>the speed and performance that you need to create a great user</a:t>
            </a:r>
            <a:endParaRPr/>
          </a:p>
          <a:p>
            <a:pPr marL="0" lvl="0" indent="0" algn="l" rtl="0">
              <a:spcBef>
                <a:spcPts val="0"/>
              </a:spcBef>
              <a:spcAft>
                <a:spcPts val="0"/>
              </a:spcAft>
              <a:buClr>
                <a:schemeClr val="dk1"/>
              </a:buClr>
              <a:buSzPts val="1100"/>
              <a:buFont typeface="Arial"/>
              <a:buNone/>
            </a:pPr>
            <a:r>
              <a:rPr lang="en-US"/>
              <a:t>experience.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That may have been true five years ago, but today’s solutions offer</a:t>
            </a:r>
            <a:endParaRPr/>
          </a:p>
          <a:p>
            <a:pPr marL="0" lvl="0" indent="0" algn="l" rtl="0">
              <a:spcBef>
                <a:spcPts val="0"/>
              </a:spcBef>
              <a:spcAft>
                <a:spcPts val="0"/>
              </a:spcAft>
              <a:buClr>
                <a:schemeClr val="dk1"/>
              </a:buClr>
              <a:buSzPts val="1100"/>
              <a:buFont typeface="Arial"/>
              <a:buNone/>
            </a:pPr>
            <a:r>
              <a:rPr lang="en-US"/>
              <a:t>the same hardware based performance acceleration as native apps, and the difference is only needed for really specific applications with high custom needs. </a:t>
            </a:r>
            <a:br>
              <a:rPr lang="en-US"/>
            </a:br>
            <a:br>
              <a:rPr lang="en-US"/>
            </a:br>
            <a:r>
              <a:rPr lang="en-US"/>
              <a:t>There is a good chance you don’t need that!</a:t>
            </a:r>
            <a:endParaRPr/>
          </a:p>
          <a:p>
            <a:pPr marL="0" lvl="0" indent="0" algn="l" rtl="0">
              <a:lnSpc>
                <a:spcPct val="90000"/>
              </a:lnSpc>
              <a:spcBef>
                <a:spcPts val="0"/>
              </a:spcBef>
              <a:spcAft>
                <a:spcPts val="0"/>
              </a:spcAft>
              <a:buSzPts val="1800"/>
              <a:buNone/>
            </a:pPr>
            <a:endParaRPr/>
          </a:p>
        </p:txBody>
      </p:sp>
      <p:sp>
        <p:nvSpPr>
          <p:cNvPr id="454" name="Google Shape;454;g1ff21e9a6e0_0_302"/>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g1ff21e9a6e0_0_31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00"/>
              <a:buNone/>
            </a:pPr>
            <a:r>
              <a:rPr lang="en-US"/>
              <a:t>Of course, hybrid applications are not without their drawbacks, and the list really depend on what you want to do with it. Would it be recommended to build a full 3D game using that technology? </a:t>
            </a: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r>
              <a:rPr lang="en-US"/>
              <a:t>Maybe not, but today web browser can access the GPU quite easily, and rely on WASM for more performance. Nevertheless, some issues exist:</a:t>
            </a:r>
            <a:endParaRPr/>
          </a:p>
          <a:p>
            <a:pPr marL="0" lvl="0" indent="0" algn="l" rtl="0">
              <a:spcBef>
                <a:spcPts val="0"/>
              </a:spcBef>
              <a:spcAft>
                <a:spcPts val="0"/>
              </a:spcAft>
              <a:buClr>
                <a:schemeClr val="dk1"/>
              </a:buClr>
              <a:buSzPts val="1100"/>
              <a:buFont typeface="Arial"/>
              <a:buNone/>
            </a:pPr>
            <a:endParaRPr/>
          </a:p>
          <a:p>
            <a:pPr marL="457200" lvl="0" indent="-342900" algn="l" rtl="0">
              <a:spcBef>
                <a:spcPts val="0"/>
              </a:spcBef>
              <a:spcAft>
                <a:spcPts val="0"/>
              </a:spcAft>
              <a:buSzPts val="1800"/>
              <a:buChar char="•"/>
            </a:pPr>
            <a:r>
              <a:rPr lang="en-US"/>
              <a:t>system overhead</a:t>
            </a:r>
            <a:endParaRPr/>
          </a:p>
          <a:p>
            <a:pPr marL="457200" lvl="0" indent="-342900" algn="l" rtl="0">
              <a:spcBef>
                <a:spcPts val="0"/>
              </a:spcBef>
              <a:spcAft>
                <a:spcPts val="0"/>
              </a:spcAft>
              <a:buSzPts val="1800"/>
              <a:buChar char="•"/>
            </a:pPr>
            <a:r>
              <a:rPr lang="en-US"/>
              <a:t>plugin management</a:t>
            </a:r>
            <a:endParaRPr/>
          </a:p>
          <a:p>
            <a:pPr marL="457200" lvl="0" indent="-342900" algn="l" rtl="0">
              <a:spcBef>
                <a:spcPts val="0"/>
              </a:spcBef>
              <a:spcAft>
                <a:spcPts val="0"/>
              </a:spcAft>
              <a:buSzPts val="1800"/>
              <a:buChar char="•"/>
            </a:pPr>
            <a:r>
              <a:rPr lang="en-US"/>
              <a:t>third-party dependence</a:t>
            </a:r>
            <a:endParaRPr/>
          </a:p>
        </p:txBody>
      </p:sp>
      <p:sp>
        <p:nvSpPr>
          <p:cNvPr id="461" name="Google Shape;461;g1ff21e9a6e0_0_31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g1ff21e9a6e0_0_32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System overhead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The use of the webview may introduce a degree of overhead</a:t>
            </a:r>
            <a:endParaRPr/>
          </a:p>
          <a:p>
            <a:pPr marL="0" lvl="0" indent="0" algn="l" rtl="0">
              <a:spcBef>
                <a:spcPts val="0"/>
              </a:spcBef>
              <a:spcAft>
                <a:spcPts val="0"/>
              </a:spcAft>
              <a:buClr>
                <a:schemeClr val="dk1"/>
              </a:buClr>
              <a:buSzPts val="1100"/>
              <a:buFont typeface="Arial"/>
              <a:buNone/>
            </a:pPr>
            <a:r>
              <a:rPr lang="en-US"/>
              <a:t>compared to native.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The abundance of performance APIs and increasingly powerful</a:t>
            </a:r>
            <a:endParaRPr/>
          </a:p>
          <a:p>
            <a:pPr marL="0" lvl="0" indent="0" algn="l" rtl="0">
              <a:spcBef>
                <a:spcPts val="0"/>
              </a:spcBef>
              <a:spcAft>
                <a:spcPts val="0"/>
              </a:spcAft>
              <a:buClr>
                <a:schemeClr val="dk1"/>
              </a:buClr>
              <a:buSzPts val="1100"/>
              <a:buFont typeface="Arial"/>
              <a:buNone/>
            </a:pPr>
            <a:r>
              <a:rPr lang="en-US"/>
              <a:t>hardware have made this less of a factor in recent years, but it’s still</a:t>
            </a:r>
            <a:endParaRPr/>
          </a:p>
          <a:p>
            <a:pPr marL="0" lvl="0" indent="0" algn="l" rtl="0">
              <a:spcBef>
                <a:spcPts val="0"/>
              </a:spcBef>
              <a:spcAft>
                <a:spcPts val="0"/>
              </a:spcAft>
              <a:buClr>
                <a:schemeClr val="dk1"/>
              </a:buClr>
              <a:buSzPts val="1100"/>
              <a:buFont typeface="Arial"/>
              <a:buNone/>
            </a:pPr>
            <a:r>
              <a:rPr lang="en-US"/>
              <a:t>something to consider.</a:t>
            </a:r>
            <a:endParaRPr/>
          </a:p>
          <a:p>
            <a:pPr marL="0" lvl="0" indent="0" algn="l" rtl="0">
              <a:lnSpc>
                <a:spcPct val="90000"/>
              </a:lnSpc>
              <a:spcBef>
                <a:spcPts val="0"/>
              </a:spcBef>
              <a:spcAft>
                <a:spcPts val="0"/>
              </a:spcAft>
              <a:buSzPts val="1800"/>
              <a:buNone/>
            </a:pPr>
            <a:endParaRPr/>
          </a:p>
        </p:txBody>
      </p:sp>
      <p:sp>
        <p:nvSpPr>
          <p:cNvPr id="468" name="Google Shape;468;g1ff21e9a6e0_0_32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g1ff21e9a6e0_0_388"/>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00"/>
              <a:buNone/>
            </a:pPr>
            <a:r>
              <a:rPr lang="en-US"/>
              <a:t>System overhead</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a:t>For most applications, the difference in performance is hardly</a:t>
            </a:r>
            <a:endParaRPr/>
          </a:p>
          <a:p>
            <a:pPr marL="0" lvl="0" indent="0" algn="l" rtl="0">
              <a:spcBef>
                <a:spcPts val="0"/>
              </a:spcBef>
              <a:spcAft>
                <a:spcPts val="0"/>
              </a:spcAft>
              <a:buSzPts val="1100"/>
              <a:buNone/>
            </a:pPr>
            <a:r>
              <a:rPr lang="en-US"/>
              <a:t>noticeable. But for 3D games and other performance-intensive</a:t>
            </a:r>
            <a:endParaRPr/>
          </a:p>
          <a:p>
            <a:pPr marL="0" lvl="0" indent="0" algn="l" rtl="0">
              <a:spcBef>
                <a:spcPts val="0"/>
              </a:spcBef>
              <a:spcAft>
                <a:spcPts val="0"/>
              </a:spcAft>
              <a:buSzPts val="1100"/>
              <a:buNone/>
            </a:pPr>
            <a:r>
              <a:rPr lang="en-US"/>
              <a:t>applications, a hybrid solution may not be the best choice.</a:t>
            </a:r>
            <a:endParaRPr/>
          </a:p>
          <a:p>
            <a:pPr marL="0" lvl="0" indent="0" algn="l" rtl="0">
              <a:spcBef>
                <a:spcPts val="0"/>
              </a:spcBef>
              <a:spcAft>
                <a:spcPts val="0"/>
              </a:spcAft>
              <a:buSzPts val="1100"/>
              <a:buNone/>
            </a:pPr>
            <a:br>
              <a:rPr lang="en-US"/>
            </a:br>
            <a:r>
              <a:rPr lang="en-US"/>
              <a:t>This will be your role to check that through some benchmark to choose if the solution makes sense or not.</a:t>
            </a:r>
            <a:endParaRPr/>
          </a:p>
          <a:p>
            <a:pPr marL="0" lvl="0" indent="0" algn="l" rtl="0">
              <a:lnSpc>
                <a:spcPct val="90000"/>
              </a:lnSpc>
              <a:spcBef>
                <a:spcPts val="0"/>
              </a:spcBef>
              <a:spcAft>
                <a:spcPts val="0"/>
              </a:spcAft>
              <a:buSzPts val="1800"/>
              <a:buNone/>
            </a:pPr>
            <a:endParaRPr/>
          </a:p>
        </p:txBody>
      </p:sp>
      <p:sp>
        <p:nvSpPr>
          <p:cNvPr id="475" name="Google Shape;475;g1ff21e9a6e0_0_388"/>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g1ff21e9a6e0_0_326"/>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Plugin management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Cross-platform solutions like Ionic - as well as React Native and</a:t>
            </a:r>
            <a:endParaRPr/>
          </a:p>
          <a:p>
            <a:pPr marL="0" lvl="0" indent="0" algn="l" rtl="0">
              <a:spcBef>
                <a:spcPts val="0"/>
              </a:spcBef>
              <a:spcAft>
                <a:spcPts val="0"/>
              </a:spcAft>
              <a:buClr>
                <a:schemeClr val="dk1"/>
              </a:buClr>
              <a:buSzPts val="1100"/>
              <a:buFont typeface="Arial"/>
              <a:buNone/>
            </a:pPr>
            <a:r>
              <a:rPr lang="en-US"/>
              <a:t>others - are able to access nearly every native feature of a device, like</a:t>
            </a:r>
            <a:endParaRPr/>
          </a:p>
          <a:p>
            <a:pPr marL="0" lvl="0" indent="0" algn="l" rtl="0">
              <a:spcBef>
                <a:spcPts val="0"/>
              </a:spcBef>
              <a:spcAft>
                <a:spcPts val="0"/>
              </a:spcAft>
              <a:buClr>
                <a:schemeClr val="dk1"/>
              </a:buClr>
              <a:buSzPts val="1100"/>
              <a:buFont typeface="Arial"/>
              <a:buNone/>
            </a:pPr>
            <a:r>
              <a:rPr lang="en-US"/>
              <a:t>the camera or gyroscope, by using native plugins that unlock native</a:t>
            </a:r>
            <a:endParaRPr/>
          </a:p>
          <a:p>
            <a:pPr marL="0" lvl="0" indent="0" algn="l" rtl="0">
              <a:spcBef>
                <a:spcPts val="0"/>
              </a:spcBef>
              <a:spcAft>
                <a:spcPts val="0"/>
              </a:spcAft>
              <a:buClr>
                <a:schemeClr val="dk1"/>
              </a:buClr>
              <a:buSzPts val="1100"/>
              <a:buFont typeface="Arial"/>
              <a:buNone/>
            </a:pPr>
            <a:r>
              <a:rPr lang="en-US"/>
              <a:t>device features and integration using basic JavaScript.</a:t>
            </a:r>
            <a:endParaRPr/>
          </a:p>
          <a:p>
            <a:pPr marL="0" lvl="0" indent="0" algn="l" rtl="0">
              <a:spcBef>
                <a:spcPts val="0"/>
              </a:spcBef>
              <a:spcAft>
                <a:spcPts val="0"/>
              </a:spcAft>
              <a:buClr>
                <a:schemeClr val="dk1"/>
              </a:buClr>
              <a:buSzPts val="1100"/>
              <a:buFont typeface="Arial"/>
              <a:buNone/>
            </a:pPr>
            <a:endParaRPr/>
          </a:p>
          <a:p>
            <a:pPr marL="0" lvl="0" indent="0" algn="l" rtl="0">
              <a:lnSpc>
                <a:spcPct val="90000"/>
              </a:lnSpc>
              <a:spcBef>
                <a:spcPts val="0"/>
              </a:spcBef>
              <a:spcAft>
                <a:spcPts val="0"/>
              </a:spcAft>
              <a:buSzPts val="1800"/>
              <a:buNone/>
            </a:pPr>
            <a:endParaRPr/>
          </a:p>
        </p:txBody>
      </p:sp>
      <p:sp>
        <p:nvSpPr>
          <p:cNvPr id="482" name="Google Shape;482;g1ff21e9a6e0_0_326"/>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g1ff21e9a6e0_0_396"/>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00"/>
              <a:buNone/>
            </a:pPr>
            <a:r>
              <a:rPr lang="en-US"/>
              <a:t>Plugin management:</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a:t>In a hybrid app, open source Cordova and Capacitor plugins are the</a:t>
            </a:r>
            <a:endParaRPr/>
          </a:p>
          <a:p>
            <a:pPr marL="0" lvl="0" indent="0" algn="l" rtl="0">
              <a:spcBef>
                <a:spcPts val="0"/>
              </a:spcBef>
              <a:spcAft>
                <a:spcPts val="0"/>
              </a:spcAft>
              <a:buSzPts val="1100"/>
              <a:buNone/>
            </a:pPr>
            <a:r>
              <a:rPr lang="en-US"/>
              <a:t>most popular solution to this problem. But the use of these plugins does add complexity to development, while simultaneously allowing you to access new features.</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endParaRPr/>
          </a:p>
          <a:p>
            <a:pPr marL="0" lvl="0" indent="0" algn="l" rtl="0">
              <a:lnSpc>
                <a:spcPct val="90000"/>
              </a:lnSpc>
              <a:spcBef>
                <a:spcPts val="0"/>
              </a:spcBef>
              <a:spcAft>
                <a:spcPts val="0"/>
              </a:spcAft>
              <a:buSzPts val="1800"/>
              <a:buNone/>
            </a:pPr>
            <a:endParaRPr/>
          </a:p>
        </p:txBody>
      </p:sp>
      <p:sp>
        <p:nvSpPr>
          <p:cNvPr id="489" name="Google Shape;489;g1ff21e9a6e0_0_396"/>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g1ff21e9a6e0_0_332"/>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00"/>
              <a:buNone/>
            </a:pPr>
            <a:r>
              <a:rPr lang="en-US"/>
              <a:t>Third-party dependencies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Choosing a cross-platform approach means you’re placing trust in the</a:t>
            </a:r>
            <a:endParaRPr/>
          </a:p>
          <a:p>
            <a:pPr marL="0" lvl="0" indent="0" algn="l" rtl="0">
              <a:spcBef>
                <a:spcPts val="0"/>
              </a:spcBef>
              <a:spcAft>
                <a:spcPts val="0"/>
              </a:spcAft>
              <a:buClr>
                <a:schemeClr val="dk1"/>
              </a:buClr>
              <a:buSzPts val="1100"/>
              <a:buFont typeface="Arial"/>
              <a:buNone/>
            </a:pPr>
            <a:r>
              <a:rPr lang="en-US"/>
              <a:t>maker of the framework vendor (whether it’s Ionic, React Native,</a:t>
            </a:r>
            <a:endParaRPr/>
          </a:p>
          <a:p>
            <a:pPr marL="0" lvl="0" indent="0" algn="l" rtl="0">
              <a:spcBef>
                <a:spcPts val="0"/>
              </a:spcBef>
              <a:spcAft>
                <a:spcPts val="0"/>
              </a:spcAft>
              <a:buClr>
                <a:schemeClr val="dk1"/>
              </a:buClr>
              <a:buSzPts val="1100"/>
              <a:buFont typeface="Arial"/>
              <a:buNone/>
            </a:pPr>
            <a:r>
              <a:rPr lang="en-US"/>
              <a:t>Xamarin, etc.) to keep up with the latest and greatest native features</a:t>
            </a:r>
            <a:endParaRPr/>
          </a:p>
          <a:p>
            <a:pPr marL="0" lvl="0" indent="0" algn="l" rtl="0">
              <a:spcBef>
                <a:spcPts val="0"/>
              </a:spcBef>
              <a:spcAft>
                <a:spcPts val="0"/>
              </a:spcAft>
              <a:buClr>
                <a:schemeClr val="dk1"/>
              </a:buClr>
              <a:buSzPts val="1100"/>
              <a:buFont typeface="Arial"/>
              <a:buNone/>
            </a:pPr>
            <a:r>
              <a:rPr lang="en-US"/>
              <a:t>and design patterns of each mobile platform.</a:t>
            </a:r>
            <a:endParaRPr/>
          </a:p>
          <a:p>
            <a:pPr marL="0" lvl="0" indent="0" algn="l" rtl="0">
              <a:lnSpc>
                <a:spcPct val="90000"/>
              </a:lnSpc>
              <a:spcBef>
                <a:spcPts val="0"/>
              </a:spcBef>
              <a:spcAft>
                <a:spcPts val="0"/>
              </a:spcAft>
              <a:buSzPts val="1800"/>
              <a:buNone/>
            </a:pPr>
            <a:endParaRPr/>
          </a:p>
        </p:txBody>
      </p:sp>
      <p:sp>
        <p:nvSpPr>
          <p:cNvPr id="496" name="Google Shape;496;g1ff21e9a6e0_0_332"/>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g1ff21e9a6e0_0_40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100"/>
              <a:buNone/>
            </a:pPr>
            <a:r>
              <a:rPr lang="en-US"/>
              <a:t>Third-party dependencies</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r>
              <a:rPr lang="en-US"/>
              <a:t>While the various cross-platform frameworks available today—Ionic,</a:t>
            </a:r>
            <a:endParaRPr/>
          </a:p>
          <a:p>
            <a:pPr marL="0" lvl="0" indent="0" algn="l" rtl="0">
              <a:spcBef>
                <a:spcPts val="0"/>
              </a:spcBef>
              <a:spcAft>
                <a:spcPts val="0"/>
              </a:spcAft>
              <a:buSzPts val="1100"/>
              <a:buNone/>
            </a:pPr>
            <a:r>
              <a:rPr lang="en-US"/>
              <a:t>Xamarin, Flutter, and React Native—may appear similar on the</a:t>
            </a:r>
            <a:endParaRPr/>
          </a:p>
          <a:p>
            <a:pPr marL="0" lvl="0" indent="0" algn="l" rtl="0">
              <a:spcBef>
                <a:spcPts val="0"/>
              </a:spcBef>
              <a:spcAft>
                <a:spcPts val="0"/>
              </a:spcAft>
              <a:buSzPts val="1100"/>
              <a:buNone/>
            </a:pPr>
            <a:r>
              <a:rPr lang="en-US"/>
              <a:t>surface, there are a lot of differences between them that you’ll</a:t>
            </a:r>
            <a:endParaRPr/>
          </a:p>
          <a:p>
            <a:pPr marL="0" lvl="0" indent="0" algn="l" rtl="0">
              <a:spcBef>
                <a:spcPts val="0"/>
              </a:spcBef>
              <a:spcAft>
                <a:spcPts val="0"/>
              </a:spcAft>
              <a:buSzPts val="1100"/>
              <a:buNone/>
            </a:pPr>
            <a:r>
              <a:rPr lang="en-US"/>
              <a:t>realize as you dig in.</a:t>
            </a:r>
            <a:endParaRPr/>
          </a:p>
          <a:p>
            <a:pPr marL="0" lvl="0" indent="0" algn="l" rtl="0">
              <a:spcBef>
                <a:spcPts val="0"/>
              </a:spcBef>
              <a:spcAft>
                <a:spcPts val="0"/>
              </a:spcAft>
              <a:buSzPts val="1100"/>
              <a:buNone/>
            </a:pPr>
            <a:endParaRPr/>
          </a:p>
          <a:p>
            <a:pPr marL="0" lvl="0" indent="0" algn="l" rtl="0">
              <a:lnSpc>
                <a:spcPct val="90000"/>
              </a:lnSpc>
              <a:spcBef>
                <a:spcPts val="0"/>
              </a:spcBef>
              <a:spcAft>
                <a:spcPts val="0"/>
              </a:spcAft>
              <a:buSzPts val="1800"/>
              <a:buNone/>
            </a:pPr>
            <a:endParaRPr/>
          </a:p>
        </p:txBody>
      </p:sp>
      <p:sp>
        <p:nvSpPr>
          <p:cNvPr id="503" name="Google Shape;503;g1ff21e9a6e0_0_40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g1ff21e9a6e0_0_338"/>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To summarize very briefly, Ionic Framework and tooling are all based</a:t>
            </a:r>
            <a:endParaRPr/>
          </a:p>
          <a:p>
            <a:pPr marL="0" lvl="0" indent="0" algn="l" rtl="0">
              <a:spcBef>
                <a:spcPts val="0"/>
              </a:spcBef>
              <a:spcAft>
                <a:spcPts val="0"/>
              </a:spcAft>
              <a:buClr>
                <a:schemeClr val="dk1"/>
              </a:buClr>
              <a:buSzPts val="1100"/>
              <a:buFont typeface="Arial"/>
              <a:buNone/>
            </a:pPr>
            <a:r>
              <a:rPr lang="en-US"/>
              <a:t>on open web technologies, from the languages that you use to build</a:t>
            </a:r>
            <a:endParaRPr/>
          </a:p>
          <a:p>
            <a:pPr marL="0" lvl="0" indent="0" algn="l" rtl="0">
              <a:spcBef>
                <a:spcPts val="0"/>
              </a:spcBef>
              <a:spcAft>
                <a:spcPts val="0"/>
              </a:spcAft>
              <a:buClr>
                <a:schemeClr val="dk1"/>
              </a:buClr>
              <a:buSzPts val="1100"/>
              <a:buFont typeface="Arial"/>
              <a:buNone/>
            </a:pPr>
            <a:r>
              <a:rPr lang="en-US"/>
              <a:t>Ionic apps (HTML, CSS, JavaScript), to the standardsbased UI</a:t>
            </a:r>
            <a:endParaRPr/>
          </a:p>
          <a:p>
            <a:pPr marL="0" lvl="0" indent="0" algn="l" rtl="0">
              <a:spcBef>
                <a:spcPts val="0"/>
              </a:spcBef>
              <a:spcAft>
                <a:spcPts val="0"/>
              </a:spcAft>
              <a:buClr>
                <a:schemeClr val="dk1"/>
              </a:buClr>
              <a:buSzPts val="1100"/>
              <a:buFont typeface="Arial"/>
              <a:buNone/>
            </a:pPr>
            <a:r>
              <a:rPr lang="en-US"/>
              <a:t>components running inside your app.</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In that sense, when you choose Ionic, you’re really choosing the web -</a:t>
            </a:r>
            <a:endParaRPr/>
          </a:p>
          <a:p>
            <a:pPr marL="0" lvl="0" indent="0" algn="l" rtl="0">
              <a:spcBef>
                <a:spcPts val="0"/>
              </a:spcBef>
              <a:spcAft>
                <a:spcPts val="0"/>
              </a:spcAft>
              <a:buSzPts val="1100"/>
              <a:buNone/>
            </a:pPr>
            <a:r>
              <a:rPr lang="en-US"/>
              <a:t>the most time-tested, universal runtime in the world.</a:t>
            </a:r>
            <a:endParaRPr/>
          </a:p>
          <a:p>
            <a:pPr marL="0" lvl="0" indent="0" algn="l" rtl="0">
              <a:spcBef>
                <a:spcPts val="0"/>
              </a:spcBef>
              <a:spcAft>
                <a:spcPts val="0"/>
              </a:spcAft>
              <a:buClr>
                <a:schemeClr val="dk1"/>
              </a:buClr>
              <a:buSzPts val="1100"/>
              <a:buFont typeface="Arial"/>
              <a:buNone/>
            </a:pPr>
            <a:r>
              <a:rPr lang="en-US"/>
              <a:t>You build with the web, and we give you the tools and component libraries to help you succeed.</a:t>
            </a:r>
            <a:endParaRPr/>
          </a:p>
          <a:p>
            <a:pPr marL="0" lvl="0" indent="0" algn="l" rtl="0">
              <a:lnSpc>
                <a:spcPct val="90000"/>
              </a:lnSpc>
              <a:spcBef>
                <a:spcPts val="0"/>
              </a:spcBef>
              <a:spcAft>
                <a:spcPts val="0"/>
              </a:spcAft>
              <a:buSzPts val="1800"/>
              <a:buNone/>
            </a:pPr>
            <a:endParaRPr/>
          </a:p>
        </p:txBody>
      </p:sp>
      <p:sp>
        <p:nvSpPr>
          <p:cNvPr id="510" name="Google Shape;510;g1ff21e9a6e0_0_338"/>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g1ff21e9a6e0_0_344"/>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Most of the other frameworks add some level of custom UI rendering</a:t>
            </a:r>
            <a:endParaRPr/>
          </a:p>
          <a:p>
            <a:pPr marL="0" lvl="0" indent="0" algn="l" rtl="0">
              <a:spcBef>
                <a:spcPts val="0"/>
              </a:spcBef>
              <a:spcAft>
                <a:spcPts val="0"/>
              </a:spcAft>
              <a:buClr>
                <a:schemeClr val="dk1"/>
              </a:buClr>
              <a:buSzPts val="1100"/>
              <a:buFont typeface="Arial"/>
              <a:buNone/>
            </a:pPr>
            <a:r>
              <a:rPr lang="en-US"/>
              <a:t>to work across platforms.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For example, React Native translates your JavaScript code into native</a:t>
            </a:r>
            <a:endParaRPr/>
          </a:p>
          <a:p>
            <a:pPr marL="0" lvl="0" indent="0" algn="l" rtl="0">
              <a:spcBef>
                <a:spcPts val="0"/>
              </a:spcBef>
              <a:spcAft>
                <a:spcPts val="0"/>
              </a:spcAft>
              <a:buClr>
                <a:schemeClr val="dk1"/>
              </a:buClr>
              <a:buSzPts val="1100"/>
              <a:buFont typeface="Arial"/>
              <a:buNone/>
            </a:pPr>
            <a:r>
              <a:rPr lang="en-US"/>
              <a:t>code at runtime, and uses the native UI elements provided by iOS and</a:t>
            </a:r>
            <a:endParaRPr/>
          </a:p>
          <a:p>
            <a:pPr marL="0" lvl="0" indent="0" algn="l" rtl="0">
              <a:spcBef>
                <a:spcPts val="0"/>
              </a:spcBef>
              <a:spcAft>
                <a:spcPts val="0"/>
              </a:spcAft>
              <a:buClr>
                <a:schemeClr val="dk1"/>
              </a:buClr>
              <a:buSzPts val="1100"/>
              <a:buFont typeface="Arial"/>
              <a:buNone/>
            </a:pPr>
            <a:r>
              <a:rPr lang="en-US"/>
              <a:t>Android.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Flutter works with the Dart language and uses its own custom</a:t>
            </a:r>
            <a:endParaRPr/>
          </a:p>
          <a:p>
            <a:pPr marL="0" lvl="0" indent="0" algn="l" rtl="0">
              <a:spcBef>
                <a:spcPts val="0"/>
              </a:spcBef>
              <a:spcAft>
                <a:spcPts val="0"/>
              </a:spcAft>
              <a:buSzPts val="1100"/>
              <a:buNone/>
            </a:pPr>
            <a:r>
              <a:rPr lang="en-US"/>
              <a:t>graphics engine to work across devices.</a:t>
            </a:r>
            <a:endParaRPr/>
          </a:p>
        </p:txBody>
      </p:sp>
      <p:sp>
        <p:nvSpPr>
          <p:cNvPr id="517" name="Google Shape;517;g1ff21e9a6e0_0_344"/>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g1ff21e9a6e0_0_350"/>
          <p:cNvSpPr txBox="1">
            <a:spLocks noGrp="1"/>
          </p:cNvSpPr>
          <p:nvPr>
            <p:ph type="body" idx="1"/>
          </p:nvPr>
        </p:nvSpPr>
        <p:spPr>
          <a:xfrm>
            <a:off x="838200" y="1572648"/>
            <a:ext cx="10515600" cy="460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a:t>Each approach has its benefits and drawbacks, which typically come</a:t>
            </a:r>
            <a:endParaRPr/>
          </a:p>
          <a:p>
            <a:pPr marL="0" lvl="0" indent="0" algn="l" rtl="0">
              <a:spcBef>
                <a:spcPts val="0"/>
              </a:spcBef>
              <a:spcAft>
                <a:spcPts val="0"/>
              </a:spcAft>
              <a:buClr>
                <a:schemeClr val="dk1"/>
              </a:buClr>
              <a:buSzPts val="1100"/>
              <a:buFont typeface="Arial"/>
              <a:buNone/>
            </a:pPr>
            <a:r>
              <a:rPr lang="en-US"/>
              <a:t>down to debates about performance, code sharing, customization,</a:t>
            </a:r>
            <a:endParaRPr/>
          </a:p>
          <a:p>
            <a:pPr marL="0" lvl="0" indent="0" algn="l" rtl="0">
              <a:spcBef>
                <a:spcPts val="0"/>
              </a:spcBef>
              <a:spcAft>
                <a:spcPts val="0"/>
              </a:spcAft>
              <a:buClr>
                <a:schemeClr val="dk1"/>
              </a:buClr>
              <a:buSzPts val="1100"/>
              <a:buFont typeface="Arial"/>
              <a:buNone/>
            </a:pPr>
            <a:r>
              <a:rPr lang="en-US"/>
              <a:t>and portability.</a:t>
            </a:r>
            <a:endParaRPr/>
          </a:p>
          <a:p>
            <a:pPr marL="0" lvl="0" indent="0" algn="l" rtl="0">
              <a:lnSpc>
                <a:spcPct val="90000"/>
              </a:lnSpc>
              <a:spcBef>
                <a:spcPts val="0"/>
              </a:spcBef>
              <a:spcAft>
                <a:spcPts val="0"/>
              </a:spcAft>
              <a:buSzPts val="1800"/>
              <a:buNone/>
            </a:pPr>
            <a:endParaRPr/>
          </a:p>
        </p:txBody>
      </p:sp>
      <p:sp>
        <p:nvSpPr>
          <p:cNvPr id="524" name="Google Shape;524;g1ff21e9a6e0_0_350"/>
          <p:cNvSpPr txBox="1">
            <a:spLocks noGrp="1"/>
          </p:cNvSpPr>
          <p:nvPr>
            <p:ph type="body" idx="2"/>
          </p:nvPr>
        </p:nvSpPr>
        <p:spPr>
          <a:xfrm>
            <a:off x="838200" y="384352"/>
            <a:ext cx="10509000" cy="569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n-US"/>
              <a:t>2. Hybrid apps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pic>
        <p:nvPicPr>
          <p:cNvPr id="530" name="Google Shape;530;g2d054763edd_2_6"/>
          <p:cNvPicPr preferRelativeResize="0"/>
          <p:nvPr/>
        </p:nvPicPr>
        <p:blipFill rotWithShape="1">
          <a:blip r:embed="rId3">
            <a:alphaModFix/>
          </a:blip>
          <a:srcRect/>
          <a:stretch/>
        </p:blipFill>
        <p:spPr>
          <a:xfrm>
            <a:off x="4882413" y="2215413"/>
            <a:ext cx="2427174" cy="2427174"/>
          </a:xfrm>
          <a:prstGeom prst="rect">
            <a:avLst/>
          </a:prstGeom>
          <a:noFill/>
          <a:ln>
            <a:noFill/>
          </a:ln>
        </p:spPr>
      </p:pic>
      <p:sp>
        <p:nvSpPr>
          <p:cNvPr id="531" name="Google Shape;531;g2d054763edd_2_6"/>
          <p:cNvSpPr txBox="1"/>
          <p:nvPr/>
        </p:nvSpPr>
        <p:spPr>
          <a:xfrm>
            <a:off x="4964200" y="4642575"/>
            <a:ext cx="2454000" cy="459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Calibri"/>
                <a:ea typeface="Calibri"/>
                <a:cs typeface="Calibri"/>
                <a:sym typeface="Calibri"/>
              </a:rPr>
              <a:t>Exercises</a:t>
            </a:r>
            <a:endParaRPr sz="2800" b="0" i="0" u="none" strike="noStrike" cap="none">
              <a:solidFill>
                <a:schemeClr val="lt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g2d054763edd_2_12"/>
          <p:cNvSpPr txBox="1">
            <a:spLocks noGrp="1"/>
          </p:cNvSpPr>
          <p:nvPr>
            <p:ph type="body" idx="1"/>
          </p:nvPr>
        </p:nvSpPr>
        <p:spPr>
          <a:xfrm>
            <a:off x="838199" y="365126"/>
            <a:ext cx="10515600" cy="579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3200"/>
              <a:buNone/>
            </a:pP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3452</Words>
  <Application>Microsoft Macintosh PowerPoint</Application>
  <PresentationFormat>Grand écran</PresentationFormat>
  <Paragraphs>449</Paragraphs>
  <Slides>67</Slides>
  <Notes>67</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67</vt:i4>
      </vt:variant>
    </vt:vector>
  </HeadingPairs>
  <TitlesOfParts>
    <vt:vector size="70" baseType="lpstr">
      <vt:lpstr>Arial</vt:lpstr>
      <vt:lpstr>Calibri</vt:lpstr>
      <vt:lpstr>Thème Office</vt:lpstr>
      <vt:lpstr>Introduction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Draltan Marin</dc:creator>
  <cp:lastModifiedBy>Bruno Durand</cp:lastModifiedBy>
  <cp:revision>1</cp:revision>
  <dcterms:created xsi:type="dcterms:W3CDTF">2023-09-21T14:17:13Z</dcterms:created>
  <dcterms:modified xsi:type="dcterms:W3CDTF">2024-04-30T06:40:19Z</dcterms:modified>
</cp:coreProperties>
</file>