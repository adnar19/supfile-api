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95" roundtripDataSignature="AMtx7mhMGo4QQjyJDfaW00rlbp5vRj++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slide" Target="slides/slide83.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95" Type="http://customschemas.google.com/relationships/presentationmetadata" Target="metadata"/><Relationship Id="rId50" Type="http://schemas.openxmlformats.org/officeDocument/2006/relationships/slide" Target="slides/slide45.xml"/><Relationship Id="rId94" Type="http://schemas.openxmlformats.org/officeDocument/2006/relationships/slide" Target="slides/slide89.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136d33009_1_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2c136d33009_1_2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g2c136d33009_1_2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ff22d4f51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1ff22d4f51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1ff22d4f51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ff22d4f51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1ff22d4f51b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1ff22d4f51b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ff22d4f51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1ff22d4f51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1ff22d4f51b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ff22d4f51b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1ff22d4f51b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1ff22d4f51b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ff22d4f51b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1ff22d4f51b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1ff22d4f51b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ff22d4f51b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1ff22d4f51b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1ff22d4f51b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ff22d4f51b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1ff22d4f51b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1ff22d4f51b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ff22d4f51b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1ff22d4f51b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1ff22d4f51b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ff22d4f51b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1ff22d4f51b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1ff22d4f51b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ff22d4f51b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1ff22d4f51b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g1ff22d4f51b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ff22d4f51b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1ff22d4f51b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g1ff22d4f51b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ff22d4f51b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1ff22d4f51b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1ff22d4f51b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ff22d4f51b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1ff22d4f51b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1ff22d4f51b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ff22d4f51b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1ff22d4f51b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1ff22d4f51b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ff22d4f51b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1ff22d4f51b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1ff22d4f51b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ff22d4f51b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1ff22d4f51b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1ff22d4f51b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c81011df6a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2c81011df6a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2c81011df6a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c81011df6a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2c81011df6a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2c81011df6a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c81011df6a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2c81011df6a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2c81011df6a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c60c5209d3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2c60c5209d3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2c60c5209d3_0_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ff22d4f51b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1ff22d4f51b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1ff22d4f51b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ff22d4f51b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1ff22d4f51b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1ff22d4f51b_0_1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ff22d4f51b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1ff22d4f51b_0_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1ff22d4f51b_0_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ff22d4f51b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1ff22d4f51b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g1ff22d4f51b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ff22d4f51b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1ff22d4f51b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1ff22d4f51b_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ff22d4f51b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1ff22d4f51b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1ff22d4f51b_0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ff22d4f51b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1ff22d4f51b_0_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g1ff22d4f51b_0_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ff22d4f51b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1ff22d4f51b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g1ff22d4f51b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ff22d4f51b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1ff22d4f51b_0_1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g1ff22d4f51b_0_1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ff22d4f51b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1ff22d4f51b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1ff22d4f51b_0_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ff22d4f51b_0_2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1ff22d4f51b_0_2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g1ff22d4f51b_0_2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ff22d4f51b_0_2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1ff22d4f51b_0_2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g1ff22d4f51b_0_2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ff22d4f51b_0_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1ff22d4f51b_0_2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g1ff22d4f51b_0_2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ff22d4f51b_0_2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1ff22d4f51b_0_2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g1ff22d4f51b_0_2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ff22d4f51b_0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1ff22d4f51b_0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g1ff22d4f51b_0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ff22d4f51b_0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1ff22d4f51b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g1ff22d4f51b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ff22d4f51b_0_3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1ff22d4f51b_0_3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1ff22d4f51b_0_3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ff22d4f51b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1ff22d4f51b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1ff22d4f51b_0_3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ff22d4f51b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1ff22d4f51b_0_3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g1ff22d4f51b_0_3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ff22d4f51b_0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g1ff22d4f51b_0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g1ff22d4f51b_0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ff22d4f51b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1ff22d4f51b_0_3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g1ff22d4f51b_0_3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ff22d4f51b_0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1ff22d4f51b_0_3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g1ff22d4f51b_0_3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ff22d4f51b_0_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1ff22d4f51b_0_3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1ff22d4f51b_0_3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ff22d4f51b_0_3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g1ff22d4f51b_0_3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g1ff22d4f51b_0_3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ff22d4f51b_0_3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1ff22d4f51b_0_3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g1ff22d4f51b_0_3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ff22d4f51b_0_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1ff22d4f51b_0_3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g1ff22d4f51b_0_3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ff22d4f51b_0_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1ff22d4f51b_0_3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g1ff22d4f51b_0_3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ff22d4f51b_0_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1ff22d4f51b_0_3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g1ff22d4f51b_0_3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ff22d4f51b_0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1ff22d4f51b_0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g1ff22d4f51b_0_3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ff22d4f51b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1ff22d4f51b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1ff22d4f51b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ff22d4f51b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g1ff22d4f51b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g1ff22d4f51b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ff22d4f51b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1ff22d4f51b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g1ff22d4f51b_0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ff22d4f51b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1ff22d4f51b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g1ff22d4f51b_0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ff22d4f51b_0_4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1ff22d4f51b_0_4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g1ff22d4f51b_0_4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ff22d4f51b_0_6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1ff22d4f51b_0_6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g1ff22d4f51b_0_6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ff22d4f51b_0_4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g1ff22d4f51b_0_4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1ff22d4f51b_0_4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1ff22d4f51b_0_6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1ff22d4f51b_0_6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g1ff22d4f51b_0_6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ff22d4f51b_0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1ff22d4f51b_0_4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1ff22d4f51b_0_4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ff22d4f51b_0_6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g1ff22d4f51b_0_6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g1ff22d4f51b_0_6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ff22d4f51b_0_4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g1ff22d4f51b_0_4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1ff22d4f51b_0_4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ff22d4f51b_0_5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1ff22d4f51b_0_5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g1ff22d4f51b_0_5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ff22d4f51b_0_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g1ff22d4f51b_0_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1ff22d4f51b_0_4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ff22d4f51b_0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1ff22d4f51b_0_5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g1ff22d4f51b_0_5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1ff22d4f51b_0_4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g1ff22d4f51b_0_4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1ff22d4f51b_0_4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ff22d4f51b_0_5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g1ff22d4f51b_0_5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g1ff22d4f51b_0_5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ff22d4f51b_0_4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1ff22d4f51b_0_4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1ff22d4f51b_0_4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ff22d4f51b_0_5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1ff22d4f51b_0_5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g1ff22d4f51b_0_5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ff22d4f51b_0_4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g1ff22d4f51b_0_4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g1ff22d4f51b_0_4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ff22d4f51b_0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g1ff22d4f51b_0_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8" name="Google Shape;608;g1ff22d4f51b_0_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ff22d4f51b_0_4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1ff22d4f51b_0_4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g1ff22d4f51b_0_4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ff22d4f51b_0_5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1ff22d4f51b_0_5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g1ff22d4f51b_0_5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ff22d4f51b_0_4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g1ff22d4f51b_0_4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g1ff22d4f51b_0_4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ff22d4f51b_0_5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1ff22d4f51b_0_5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8" name="Google Shape;638;g1ff22d4f51b_0_5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ff22d4f51b_0_5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1ff22d4f51b_0_5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1ff22d4f51b_0_5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ff22d4f51b_0_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1ff22d4f51b_0_5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3" name="Google Shape;653;g1ff22d4f51b_0_5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1ff22d4f51b_0_5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g1ff22d4f51b_0_5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1ff22d4f51b_0_5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1ff22d4f51b_0_5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g1ff22d4f51b_0_5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8" name="Google Shape;668;g1ff22d4f51b_0_5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1ff22d4f51b_0_5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g1ff22d4f51b_0_5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1ff22d4f51b_0_5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1ff22d4f51b_0_5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g1ff22d4f51b_0_5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g1ff22d4f51b_0_5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ff22d4f51b_0_5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1ff22d4f51b_0_5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1ff22d4f51b_0_5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1ff22d4f51b_0_5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g1ff22d4f51b_0_5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g1ff22d4f51b_0_5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d054763edd_2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2d054763edd_2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g2d054763edd_2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2d054763edd_2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g2d054763edd_2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2" name="Google Shape;712;g2d054763edd_2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cture title" type="title">
  <p:cSld name="TITLE">
    <p:bg>
      <p:bgPr>
        <a:solidFill>
          <a:srgbClr val="3D2683"/>
        </a:solidFill>
      </p:bgPr>
    </p:bg>
    <p:spTree>
      <p:nvGrpSpPr>
        <p:cNvPr id="15" name="Shape 15"/>
        <p:cNvGrpSpPr/>
        <p:nvPr/>
      </p:nvGrpSpPr>
      <p:grpSpPr>
        <a:xfrm>
          <a:off x="0" y="0"/>
          <a:ext cx="0" cy="0"/>
          <a:chOff x="0" y="0"/>
          <a:chExt cx="0" cy="0"/>
        </a:xfrm>
      </p:grpSpPr>
      <p:sp>
        <p:nvSpPr>
          <p:cNvPr id="16" name="Google Shape;16;p8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8" name="Google Shape;18;p80"/>
          <p:cNvPicPr preferRelativeResize="0"/>
          <p:nvPr/>
        </p:nvPicPr>
        <p:blipFill rotWithShape="1">
          <a:blip r:embed="rId2">
            <a:alphaModFix/>
          </a:blip>
          <a:srcRect b="0" l="0" r="0" t="0"/>
          <a:stretch/>
        </p:blipFill>
        <p:spPr>
          <a:xfrm>
            <a:off x="10753200" y="5454000"/>
            <a:ext cx="1080000" cy="1080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
  <p:cSld name="Chapter slide">
    <p:spTree>
      <p:nvGrpSpPr>
        <p:cNvPr id="19" name="Shape 19"/>
        <p:cNvGrpSpPr/>
        <p:nvPr/>
      </p:nvGrpSpPr>
      <p:grpSpPr>
        <a:xfrm>
          <a:off x="0" y="0"/>
          <a:ext cx="0" cy="0"/>
          <a:chOff x="0" y="0"/>
          <a:chExt cx="0" cy="0"/>
        </a:xfrm>
      </p:grpSpPr>
      <p:sp>
        <p:nvSpPr>
          <p:cNvPr id="20" name="Google Shape;20;p81"/>
          <p:cNvSpPr txBox="1"/>
          <p:nvPr>
            <p:ph idx="1" type="body"/>
          </p:nvPr>
        </p:nvSpPr>
        <p:spPr>
          <a:xfrm>
            <a:off x="838200" y="2176669"/>
            <a:ext cx="10515600" cy="400029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e Groupe IONIS renforce son leadership dans les formations tech avec la  reprise de Supinfo - Newsroom IONIS Group" id="24" name="Google Shape;24;p81"/>
          <p:cNvPicPr preferRelativeResize="0"/>
          <p:nvPr/>
        </p:nvPicPr>
        <p:blipFill rotWithShape="1">
          <a:blip r:embed="rId2">
            <a:alphaModFix/>
          </a:blip>
          <a:srcRect b="0" l="0" r="0" t="0"/>
          <a:stretch/>
        </p:blipFill>
        <p:spPr>
          <a:xfrm>
            <a:off x="11245262" y="186359"/>
            <a:ext cx="757859" cy="757859"/>
          </a:xfrm>
          <a:prstGeom prst="rect">
            <a:avLst/>
          </a:prstGeom>
          <a:noFill/>
          <a:ln>
            <a:noFill/>
          </a:ln>
        </p:spPr>
      </p:pic>
      <p:sp>
        <p:nvSpPr>
          <p:cNvPr id="25" name="Google Shape;25;p81"/>
          <p:cNvSpPr txBox="1"/>
          <p:nvPr>
            <p:ph idx="2" type="body"/>
          </p:nvPr>
        </p:nvSpPr>
        <p:spPr>
          <a:xfrm>
            <a:off x="838200" y="384352"/>
            <a:ext cx="10508974" cy="56927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indent="-431800" lvl="1" marL="914400" algn="l">
              <a:lnSpc>
                <a:spcPct val="90000"/>
              </a:lnSpc>
              <a:spcBef>
                <a:spcPts val="500"/>
              </a:spcBef>
              <a:spcAft>
                <a:spcPts val="0"/>
              </a:spcAft>
              <a:buClr>
                <a:schemeClr val="dk1"/>
              </a:buClr>
              <a:buSzPts val="3200"/>
              <a:buChar char="•"/>
              <a:defRPr sz="3200"/>
            </a:lvl2pPr>
            <a:lvl3pPr indent="-406400" lvl="2" marL="1371600" algn="l">
              <a:lnSpc>
                <a:spcPct val="90000"/>
              </a:lnSpc>
              <a:spcBef>
                <a:spcPts val="500"/>
              </a:spcBef>
              <a:spcAft>
                <a:spcPts val="0"/>
              </a:spcAft>
              <a:buClr>
                <a:schemeClr val="dk1"/>
              </a:buClr>
              <a:buSzPts val="2800"/>
              <a:buChar char="•"/>
              <a:defRPr sz="2800"/>
            </a:lvl3pPr>
            <a:lvl4pPr indent="-381000" lvl="3" marL="1828800" algn="l">
              <a:lnSpc>
                <a:spcPct val="90000"/>
              </a:lnSpc>
              <a:spcBef>
                <a:spcPts val="500"/>
              </a:spcBef>
              <a:spcAft>
                <a:spcPts val="0"/>
              </a:spcAft>
              <a:buClr>
                <a:schemeClr val="dk1"/>
              </a:buClr>
              <a:buSzPts val="2400"/>
              <a:buChar char="•"/>
              <a:defRPr sz="2400"/>
            </a:lvl4pPr>
            <a:lvl5pPr indent="-381000" lvl="4" marL="2286000" algn="l">
              <a:lnSpc>
                <a:spcPct val="90000"/>
              </a:lnSpc>
              <a:spcBef>
                <a:spcPts val="500"/>
              </a:spcBef>
              <a:spcAft>
                <a:spcPts val="0"/>
              </a:spcAft>
              <a:buClr>
                <a:schemeClr val="dk1"/>
              </a:buClr>
              <a:buSzPts val="2400"/>
              <a:buChar char="•"/>
              <a:defRPr sz="2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81"/>
          <p:cNvSpPr txBox="1"/>
          <p:nvPr>
            <p:ph idx="3" type="body"/>
          </p:nvPr>
        </p:nvSpPr>
        <p:spPr>
          <a:xfrm>
            <a:off x="838200" y="1352782"/>
            <a:ext cx="10441597" cy="4247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bg>
      <p:bgPr>
        <a:solidFill>
          <a:srgbClr val="3D2683"/>
        </a:solidFill>
      </p:bgPr>
    </p:bg>
    <p:spTree>
      <p:nvGrpSpPr>
        <p:cNvPr id="27" name="Shape 27"/>
        <p:cNvGrpSpPr/>
        <p:nvPr/>
      </p:nvGrpSpPr>
      <p:grpSpPr>
        <a:xfrm>
          <a:off x="0" y="0"/>
          <a:ext cx="0" cy="0"/>
          <a:chOff x="0" y="0"/>
          <a:chExt cx="0" cy="0"/>
        </a:xfrm>
      </p:grpSpPr>
      <p:pic>
        <p:nvPicPr>
          <p:cNvPr descr="Menu avec un remplissage uni" id="28" name="Google Shape;28;p82"/>
          <p:cNvPicPr preferRelativeResize="0"/>
          <p:nvPr/>
        </p:nvPicPr>
        <p:blipFill rotWithShape="1">
          <a:blip r:embed="rId2">
            <a:alphaModFix/>
          </a:blip>
          <a:srcRect b="0" l="0" r="0" t="0"/>
          <a:stretch/>
        </p:blipFill>
        <p:spPr>
          <a:xfrm>
            <a:off x="10440000" y="5040000"/>
            <a:ext cx="1080000" cy="1080000"/>
          </a:xfrm>
          <a:prstGeom prst="rect">
            <a:avLst/>
          </a:prstGeom>
          <a:noFill/>
          <a:ln>
            <a:noFill/>
          </a:ln>
        </p:spPr>
      </p:pic>
      <p:sp>
        <p:nvSpPr>
          <p:cNvPr id="29" name="Google Shape;29;p82"/>
          <p:cNvSpPr txBox="1"/>
          <p:nvPr>
            <p:ph idx="1" type="body"/>
          </p:nvPr>
        </p:nvSpPr>
        <p:spPr>
          <a:xfrm>
            <a:off x="831850" y="396327"/>
            <a:ext cx="10688150" cy="9144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i="1" sz="32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sz="1800"/>
            </a:lvl2pPr>
            <a:lvl3pPr indent="-342900" lvl="2" marL="1371600" algn="l">
              <a:lnSpc>
                <a:spcPct val="90000"/>
              </a:lnSpc>
              <a:spcBef>
                <a:spcPts val="500"/>
              </a:spcBef>
              <a:spcAft>
                <a:spcPts val="0"/>
              </a:spcAft>
              <a:buClr>
                <a:schemeClr val="dk1"/>
              </a:buClr>
              <a:buSzPts val="1800"/>
              <a:buChar char="•"/>
              <a:defRPr sz="18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82"/>
          <p:cNvSpPr txBox="1"/>
          <p:nvPr>
            <p:ph idx="2" type="body"/>
          </p:nvPr>
        </p:nvSpPr>
        <p:spPr>
          <a:xfrm>
            <a:off x="844550" y="2559496"/>
            <a:ext cx="10688150" cy="3560504"/>
          </a:xfrm>
          <a:prstGeom prst="rect">
            <a:avLst/>
          </a:prstGeom>
          <a:noFill/>
          <a:ln>
            <a:noFill/>
          </a:ln>
        </p:spPr>
        <p:txBody>
          <a:bodyPr anchorCtr="0" anchor="t" bIns="45700" lIns="91425" spcFirstLastPara="1" rIns="91425" wrap="square" tIns="45700">
            <a:normAutofit/>
          </a:bodyPr>
          <a:lstStyle>
            <a:lvl1pPr indent="-457200" lvl="0" marL="457200" algn="l">
              <a:lnSpc>
                <a:spcPct val="90000"/>
              </a:lnSpc>
              <a:spcBef>
                <a:spcPts val="1000"/>
              </a:spcBef>
              <a:spcAft>
                <a:spcPts val="0"/>
              </a:spcAft>
              <a:buClr>
                <a:schemeClr val="lt1"/>
              </a:buClr>
              <a:buSzPts val="3600"/>
              <a:buChar char="•"/>
              <a:defRPr sz="3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lt1"/>
              </a:buClr>
              <a:buSzPts val="1800"/>
              <a:buChar char="•"/>
              <a:defRPr sz="1800">
                <a:solidFill>
                  <a:schemeClr val="lt1"/>
                </a:solidFill>
              </a:defRPr>
            </a:lvl2pPr>
            <a:lvl3pPr indent="-342900" lvl="2" marL="1371600" algn="l">
              <a:lnSpc>
                <a:spcPct val="90000"/>
              </a:lnSpc>
              <a:spcBef>
                <a:spcPts val="500"/>
              </a:spcBef>
              <a:spcAft>
                <a:spcPts val="0"/>
              </a:spcAft>
              <a:buClr>
                <a:schemeClr val="lt1"/>
              </a:buClr>
              <a:buSzPts val="1800"/>
              <a:buChar char="•"/>
              <a:defRPr sz="1800">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p:cSld name="Chapter title">
    <p:bg>
      <p:bgPr>
        <a:solidFill>
          <a:srgbClr val="3D2683"/>
        </a:solidFill>
      </p:bgPr>
    </p:bg>
    <p:spTree>
      <p:nvGrpSpPr>
        <p:cNvPr id="31" name="Shape 31"/>
        <p:cNvGrpSpPr/>
        <p:nvPr/>
      </p:nvGrpSpPr>
      <p:grpSpPr>
        <a:xfrm>
          <a:off x="0" y="0"/>
          <a:ext cx="0" cy="0"/>
          <a:chOff x="0" y="0"/>
          <a:chExt cx="0" cy="0"/>
        </a:xfrm>
      </p:grpSpPr>
      <p:sp>
        <p:nvSpPr>
          <p:cNvPr id="32" name="Google Shape;32;p83"/>
          <p:cNvSpPr txBox="1"/>
          <p:nvPr>
            <p:ph idx="1" type="body"/>
          </p:nvPr>
        </p:nvSpPr>
        <p:spPr>
          <a:xfrm>
            <a:off x="844550" y="1786740"/>
            <a:ext cx="10515600" cy="28512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5400"/>
              <a:buNone/>
              <a:defRPr sz="5400">
                <a:solidFill>
                  <a:schemeClr val="lt1"/>
                </a:solidFill>
                <a:latin typeface="Calibri"/>
                <a:ea typeface="Calibri"/>
                <a:cs typeface="Calibri"/>
                <a:sym typeface="Calibri"/>
              </a:defRPr>
            </a:lvl1pPr>
            <a:lvl2pPr indent="-406400" lvl="1" marL="914400" algn="l">
              <a:lnSpc>
                <a:spcPct val="90000"/>
              </a:lnSpc>
              <a:spcBef>
                <a:spcPts val="500"/>
              </a:spcBef>
              <a:spcAft>
                <a:spcPts val="0"/>
              </a:spcAft>
              <a:buClr>
                <a:schemeClr val="lt1"/>
              </a:buClr>
              <a:buSzPts val="2800"/>
              <a:buChar char="•"/>
              <a:defRPr sz="2800">
                <a:solidFill>
                  <a:schemeClr val="lt1"/>
                </a:solidFill>
              </a:defRPr>
            </a:lvl2pPr>
            <a:lvl3pPr indent="-342900" lvl="2" marL="1371600" algn="l">
              <a:lnSpc>
                <a:spcPct val="90000"/>
              </a:lnSpc>
              <a:spcBef>
                <a:spcPts val="500"/>
              </a:spcBef>
              <a:spcAft>
                <a:spcPts val="0"/>
              </a:spcAft>
              <a:buClr>
                <a:schemeClr val="lt1"/>
              </a:buClr>
              <a:buSzPts val="1800"/>
              <a:buChar char="•"/>
              <a:defRPr sz="1800">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questions">
  <p:cSld name="Chapter questions">
    <p:bg>
      <p:bgPr>
        <a:solidFill>
          <a:srgbClr val="3D2683"/>
        </a:solidFill>
      </p:bgPr>
    </p:bg>
    <p:spTree>
      <p:nvGrpSpPr>
        <p:cNvPr id="33" name="Shape 33"/>
        <p:cNvGrpSpPr/>
        <p:nvPr/>
      </p:nvGrpSpPr>
      <p:grpSpPr>
        <a:xfrm>
          <a:off x="0" y="0"/>
          <a:ext cx="0" cy="0"/>
          <a:chOff x="0" y="0"/>
          <a:chExt cx="0" cy="0"/>
        </a:xfrm>
      </p:grpSpPr>
      <p:pic>
        <p:nvPicPr>
          <p:cNvPr descr="Questions avec un remplissage uni" id="34" name="Google Shape;34;p86"/>
          <p:cNvPicPr preferRelativeResize="0"/>
          <p:nvPr/>
        </p:nvPicPr>
        <p:blipFill rotWithShape="1">
          <a:blip r:embed="rId2">
            <a:alphaModFix/>
          </a:blip>
          <a:srcRect b="0" l="0" r="0" t="0"/>
          <a:stretch/>
        </p:blipFill>
        <p:spPr>
          <a:xfrm>
            <a:off x="4656000" y="1989000"/>
            <a:ext cx="2880000" cy="2880000"/>
          </a:xfrm>
          <a:prstGeom prst="rect">
            <a:avLst/>
          </a:prstGeom>
          <a:noFill/>
          <a:ln>
            <a:noFill/>
          </a:ln>
        </p:spPr>
      </p:pic>
      <p:sp>
        <p:nvSpPr>
          <p:cNvPr id="35" name="Google Shape;35;p86"/>
          <p:cNvSpPr txBox="1"/>
          <p:nvPr>
            <p:ph idx="1" type="body"/>
          </p:nvPr>
        </p:nvSpPr>
        <p:spPr>
          <a:xfrm>
            <a:off x="838199" y="365126"/>
            <a:ext cx="10515599" cy="579092"/>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cture end">
  <p:cSld name="Lecture end">
    <p:bg>
      <p:bgPr>
        <a:solidFill>
          <a:srgbClr val="3D2683"/>
        </a:solidFill>
      </p:bgPr>
    </p:bg>
    <p:spTree>
      <p:nvGrpSpPr>
        <p:cNvPr id="36" name="Shape 36"/>
        <p:cNvGrpSpPr/>
        <p:nvPr/>
      </p:nvGrpSpPr>
      <p:grpSpPr>
        <a:xfrm>
          <a:off x="0" y="0"/>
          <a:ext cx="0" cy="0"/>
          <a:chOff x="0" y="0"/>
          <a:chExt cx="0" cy="0"/>
        </a:xfrm>
      </p:grpSpPr>
      <p:pic>
        <p:nvPicPr>
          <p:cNvPr descr="Drapeau de course avec un remplissage uni" id="37" name="Google Shape;37;p87"/>
          <p:cNvPicPr preferRelativeResize="0"/>
          <p:nvPr/>
        </p:nvPicPr>
        <p:blipFill rotWithShape="1">
          <a:blip r:embed="rId2">
            <a:alphaModFix/>
          </a:blip>
          <a:srcRect b="0" l="0" r="0" t="0"/>
          <a:stretch/>
        </p:blipFill>
        <p:spPr>
          <a:xfrm>
            <a:off x="4656000" y="1989000"/>
            <a:ext cx="2880000" cy="2880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 - Side image">
  <p:cSld name="Chapter slide - Side image">
    <p:spTree>
      <p:nvGrpSpPr>
        <p:cNvPr id="38" name="Shape 38"/>
        <p:cNvGrpSpPr/>
        <p:nvPr/>
      </p:nvGrpSpPr>
      <p:grpSpPr>
        <a:xfrm>
          <a:off x="0" y="0"/>
          <a:ext cx="0" cy="0"/>
          <a:chOff x="0" y="0"/>
          <a:chExt cx="0" cy="0"/>
        </a:xfrm>
      </p:grpSpPr>
      <p:sp>
        <p:nvSpPr>
          <p:cNvPr id="39" name="Google Shape;39;p90"/>
          <p:cNvSpPr/>
          <p:nvPr>
            <p:ph idx="2" type="pic"/>
          </p:nvPr>
        </p:nvSpPr>
        <p:spPr>
          <a:xfrm>
            <a:off x="5183188" y="987425"/>
            <a:ext cx="6172200" cy="4873625"/>
          </a:xfrm>
          <a:prstGeom prst="rect">
            <a:avLst/>
          </a:prstGeom>
          <a:noFill/>
          <a:ln>
            <a:noFill/>
          </a:ln>
        </p:spPr>
      </p:sp>
      <p:sp>
        <p:nvSpPr>
          <p:cNvPr id="40" name="Google Shape;40;p9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1" name="Google Shape;41;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e Groupe IONIS renforce son leadership dans les formations tech avec la  reprise de Supinfo - Newsroom IONIS Group" id="44" name="Google Shape;44;p90"/>
          <p:cNvPicPr preferRelativeResize="0"/>
          <p:nvPr/>
        </p:nvPicPr>
        <p:blipFill rotWithShape="1">
          <a:blip r:embed="rId2">
            <a:alphaModFix/>
          </a:blip>
          <a:srcRect b="0" l="0" r="0" t="0"/>
          <a:stretch/>
        </p:blipFill>
        <p:spPr>
          <a:xfrm>
            <a:off x="11245262" y="186359"/>
            <a:ext cx="757859" cy="757859"/>
          </a:xfrm>
          <a:prstGeom prst="rect">
            <a:avLst/>
          </a:prstGeom>
          <a:noFill/>
          <a:ln>
            <a:noFill/>
          </a:ln>
        </p:spPr>
      </p:pic>
      <p:sp>
        <p:nvSpPr>
          <p:cNvPr id="45" name="Google Shape;45;p90"/>
          <p:cNvSpPr txBox="1"/>
          <p:nvPr>
            <p:ph idx="3" type="body"/>
          </p:nvPr>
        </p:nvSpPr>
        <p:spPr>
          <a:xfrm>
            <a:off x="838200" y="384352"/>
            <a:ext cx="3957611" cy="56927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indent="-431800" lvl="1" marL="914400" algn="l">
              <a:lnSpc>
                <a:spcPct val="90000"/>
              </a:lnSpc>
              <a:spcBef>
                <a:spcPts val="500"/>
              </a:spcBef>
              <a:spcAft>
                <a:spcPts val="0"/>
              </a:spcAft>
              <a:buClr>
                <a:schemeClr val="dk1"/>
              </a:buClr>
              <a:buSzPts val="3200"/>
              <a:buChar char="•"/>
              <a:defRPr sz="3200"/>
            </a:lvl2pPr>
            <a:lvl3pPr indent="-406400" lvl="2" marL="1371600" algn="l">
              <a:lnSpc>
                <a:spcPct val="90000"/>
              </a:lnSpc>
              <a:spcBef>
                <a:spcPts val="500"/>
              </a:spcBef>
              <a:spcAft>
                <a:spcPts val="0"/>
              </a:spcAft>
              <a:buClr>
                <a:schemeClr val="dk1"/>
              </a:buClr>
              <a:buSzPts val="2800"/>
              <a:buChar char="•"/>
              <a:defRPr sz="2800"/>
            </a:lvl3pPr>
            <a:lvl4pPr indent="-381000" lvl="3" marL="1828800" algn="l">
              <a:lnSpc>
                <a:spcPct val="90000"/>
              </a:lnSpc>
              <a:spcBef>
                <a:spcPts val="500"/>
              </a:spcBef>
              <a:spcAft>
                <a:spcPts val="0"/>
              </a:spcAft>
              <a:buClr>
                <a:schemeClr val="dk1"/>
              </a:buClr>
              <a:buSzPts val="2400"/>
              <a:buChar char="•"/>
              <a:defRPr sz="2400"/>
            </a:lvl4pPr>
            <a:lvl5pPr indent="-381000" lvl="4" marL="2286000" algn="l">
              <a:lnSpc>
                <a:spcPct val="90000"/>
              </a:lnSpc>
              <a:spcBef>
                <a:spcPts val="500"/>
              </a:spcBef>
              <a:spcAft>
                <a:spcPts val="0"/>
              </a:spcAft>
              <a:buClr>
                <a:schemeClr val="dk1"/>
              </a:buClr>
              <a:buSzPts val="2400"/>
              <a:buChar char="•"/>
              <a:defRPr sz="2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90"/>
          <p:cNvSpPr txBox="1"/>
          <p:nvPr>
            <p:ph idx="4" type="body"/>
          </p:nvPr>
        </p:nvSpPr>
        <p:spPr>
          <a:xfrm>
            <a:off x="838200" y="1352782"/>
            <a:ext cx="3932237" cy="4247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 - two columns">
  <p:cSld name="Chapter slide - two columns">
    <p:spTree>
      <p:nvGrpSpPr>
        <p:cNvPr id="47" name="Shape 47"/>
        <p:cNvGrpSpPr/>
        <p:nvPr/>
      </p:nvGrpSpPr>
      <p:grpSpPr>
        <a:xfrm>
          <a:off x="0" y="0"/>
          <a:ext cx="0" cy="0"/>
          <a:chOff x="0" y="0"/>
          <a:chExt cx="0" cy="0"/>
        </a:xfrm>
      </p:grpSpPr>
      <p:sp>
        <p:nvSpPr>
          <p:cNvPr id="48" name="Google Shape;48;p84"/>
          <p:cNvSpPr txBox="1"/>
          <p:nvPr>
            <p:ph idx="1" type="body"/>
          </p:nvPr>
        </p:nvSpPr>
        <p:spPr>
          <a:xfrm>
            <a:off x="838200" y="2176669"/>
            <a:ext cx="5181600" cy="40002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4"/>
          <p:cNvSpPr txBox="1"/>
          <p:nvPr>
            <p:ph idx="2" type="body"/>
          </p:nvPr>
        </p:nvSpPr>
        <p:spPr>
          <a:xfrm>
            <a:off x="6172200" y="2176667"/>
            <a:ext cx="5181600" cy="400029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8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e Groupe IONIS renforce son leadership dans les formations tech avec la  reprise de Supinfo - Newsroom IONIS Group" id="53" name="Google Shape;53;p84"/>
          <p:cNvPicPr preferRelativeResize="0"/>
          <p:nvPr/>
        </p:nvPicPr>
        <p:blipFill rotWithShape="1">
          <a:blip r:embed="rId2">
            <a:alphaModFix/>
          </a:blip>
          <a:srcRect b="0" l="0" r="0" t="0"/>
          <a:stretch/>
        </p:blipFill>
        <p:spPr>
          <a:xfrm>
            <a:off x="11245262" y="186359"/>
            <a:ext cx="757859" cy="757859"/>
          </a:xfrm>
          <a:prstGeom prst="rect">
            <a:avLst/>
          </a:prstGeom>
          <a:noFill/>
          <a:ln>
            <a:noFill/>
          </a:ln>
        </p:spPr>
      </p:pic>
      <p:sp>
        <p:nvSpPr>
          <p:cNvPr id="54" name="Google Shape;54;p84"/>
          <p:cNvSpPr txBox="1"/>
          <p:nvPr>
            <p:ph idx="3" type="body"/>
          </p:nvPr>
        </p:nvSpPr>
        <p:spPr>
          <a:xfrm>
            <a:off x="838200" y="384352"/>
            <a:ext cx="10508974" cy="56927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indent="-431800" lvl="1" marL="914400" algn="l">
              <a:lnSpc>
                <a:spcPct val="90000"/>
              </a:lnSpc>
              <a:spcBef>
                <a:spcPts val="500"/>
              </a:spcBef>
              <a:spcAft>
                <a:spcPts val="0"/>
              </a:spcAft>
              <a:buClr>
                <a:schemeClr val="dk1"/>
              </a:buClr>
              <a:buSzPts val="3200"/>
              <a:buChar char="•"/>
              <a:defRPr sz="3200"/>
            </a:lvl2pPr>
            <a:lvl3pPr indent="-406400" lvl="2" marL="1371600" algn="l">
              <a:lnSpc>
                <a:spcPct val="90000"/>
              </a:lnSpc>
              <a:spcBef>
                <a:spcPts val="500"/>
              </a:spcBef>
              <a:spcAft>
                <a:spcPts val="0"/>
              </a:spcAft>
              <a:buClr>
                <a:schemeClr val="dk1"/>
              </a:buClr>
              <a:buSzPts val="2800"/>
              <a:buChar char="•"/>
              <a:defRPr sz="2800"/>
            </a:lvl3pPr>
            <a:lvl4pPr indent="-381000" lvl="3" marL="1828800" algn="l">
              <a:lnSpc>
                <a:spcPct val="90000"/>
              </a:lnSpc>
              <a:spcBef>
                <a:spcPts val="500"/>
              </a:spcBef>
              <a:spcAft>
                <a:spcPts val="0"/>
              </a:spcAft>
              <a:buClr>
                <a:schemeClr val="dk1"/>
              </a:buClr>
              <a:buSzPts val="2400"/>
              <a:buChar char="•"/>
              <a:defRPr sz="2400"/>
            </a:lvl4pPr>
            <a:lvl5pPr indent="-381000" lvl="4" marL="2286000" algn="l">
              <a:lnSpc>
                <a:spcPct val="90000"/>
              </a:lnSpc>
              <a:spcBef>
                <a:spcPts val="500"/>
              </a:spcBef>
              <a:spcAft>
                <a:spcPts val="0"/>
              </a:spcAft>
              <a:buClr>
                <a:schemeClr val="dk1"/>
              </a:buClr>
              <a:buSzPts val="2400"/>
              <a:buChar char="•"/>
              <a:defRPr sz="2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4"/>
          <p:cNvSpPr txBox="1"/>
          <p:nvPr>
            <p:ph idx="4" type="body"/>
          </p:nvPr>
        </p:nvSpPr>
        <p:spPr>
          <a:xfrm>
            <a:off x="838200" y="1352782"/>
            <a:ext cx="10441597" cy="4247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 - Side contents">
  <p:cSld name="Chapter slide - Side contents">
    <p:spTree>
      <p:nvGrpSpPr>
        <p:cNvPr id="56" name="Shape 56"/>
        <p:cNvGrpSpPr/>
        <p:nvPr/>
      </p:nvGrpSpPr>
      <p:grpSpPr>
        <a:xfrm>
          <a:off x="0" y="0"/>
          <a:ext cx="0" cy="0"/>
          <a:chOff x="0" y="0"/>
          <a:chExt cx="0" cy="0"/>
        </a:xfrm>
      </p:grpSpPr>
      <p:sp>
        <p:nvSpPr>
          <p:cNvPr id="57" name="Google Shape;57;p8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8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8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e Groupe IONIS renforce son leadership dans les formations tech avec la  reprise de Supinfo - Newsroom IONIS Group" id="62" name="Google Shape;62;p85"/>
          <p:cNvPicPr preferRelativeResize="0"/>
          <p:nvPr/>
        </p:nvPicPr>
        <p:blipFill rotWithShape="1">
          <a:blip r:embed="rId2">
            <a:alphaModFix/>
          </a:blip>
          <a:srcRect b="0" l="0" r="0" t="0"/>
          <a:stretch/>
        </p:blipFill>
        <p:spPr>
          <a:xfrm>
            <a:off x="11245262" y="186359"/>
            <a:ext cx="757859" cy="757859"/>
          </a:xfrm>
          <a:prstGeom prst="rect">
            <a:avLst/>
          </a:prstGeom>
          <a:noFill/>
          <a:ln>
            <a:noFill/>
          </a:ln>
        </p:spPr>
      </p:pic>
      <p:sp>
        <p:nvSpPr>
          <p:cNvPr id="63" name="Google Shape;63;p85"/>
          <p:cNvSpPr txBox="1"/>
          <p:nvPr>
            <p:ph idx="3" type="body"/>
          </p:nvPr>
        </p:nvSpPr>
        <p:spPr>
          <a:xfrm>
            <a:off x="838200" y="384352"/>
            <a:ext cx="3957611" cy="56927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indent="-431800" lvl="1" marL="914400" algn="l">
              <a:lnSpc>
                <a:spcPct val="90000"/>
              </a:lnSpc>
              <a:spcBef>
                <a:spcPts val="500"/>
              </a:spcBef>
              <a:spcAft>
                <a:spcPts val="0"/>
              </a:spcAft>
              <a:buClr>
                <a:schemeClr val="dk1"/>
              </a:buClr>
              <a:buSzPts val="3200"/>
              <a:buChar char="•"/>
              <a:defRPr sz="3200"/>
            </a:lvl2pPr>
            <a:lvl3pPr indent="-406400" lvl="2" marL="1371600" algn="l">
              <a:lnSpc>
                <a:spcPct val="90000"/>
              </a:lnSpc>
              <a:spcBef>
                <a:spcPts val="500"/>
              </a:spcBef>
              <a:spcAft>
                <a:spcPts val="0"/>
              </a:spcAft>
              <a:buClr>
                <a:schemeClr val="dk1"/>
              </a:buClr>
              <a:buSzPts val="2800"/>
              <a:buChar char="•"/>
              <a:defRPr sz="2800"/>
            </a:lvl3pPr>
            <a:lvl4pPr indent="-381000" lvl="3" marL="1828800" algn="l">
              <a:lnSpc>
                <a:spcPct val="90000"/>
              </a:lnSpc>
              <a:spcBef>
                <a:spcPts val="500"/>
              </a:spcBef>
              <a:spcAft>
                <a:spcPts val="0"/>
              </a:spcAft>
              <a:buClr>
                <a:schemeClr val="dk1"/>
              </a:buClr>
              <a:buSzPts val="2400"/>
              <a:buChar char="•"/>
              <a:defRPr sz="2400"/>
            </a:lvl4pPr>
            <a:lvl5pPr indent="-381000" lvl="4" marL="2286000" algn="l">
              <a:lnSpc>
                <a:spcPct val="90000"/>
              </a:lnSpc>
              <a:spcBef>
                <a:spcPts val="500"/>
              </a:spcBef>
              <a:spcAft>
                <a:spcPts val="0"/>
              </a:spcAft>
              <a:buClr>
                <a:schemeClr val="dk1"/>
              </a:buClr>
              <a:buSzPts val="2400"/>
              <a:buChar char="•"/>
              <a:defRPr sz="2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85"/>
          <p:cNvSpPr txBox="1"/>
          <p:nvPr>
            <p:ph idx="4" type="body"/>
          </p:nvPr>
        </p:nvSpPr>
        <p:spPr>
          <a:xfrm>
            <a:off x="838200" y="1352782"/>
            <a:ext cx="3932237" cy="4247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lide - empty">
  <p:cSld name="Chapter slide - empty">
    <p:spTree>
      <p:nvGrpSpPr>
        <p:cNvPr id="65" name="Shape 65"/>
        <p:cNvGrpSpPr/>
        <p:nvPr/>
      </p:nvGrpSpPr>
      <p:grpSpPr>
        <a:xfrm>
          <a:off x="0" y="0"/>
          <a:ext cx="0" cy="0"/>
          <a:chOff x="0" y="0"/>
          <a:chExt cx="0" cy="0"/>
        </a:xfrm>
      </p:grpSpPr>
      <p:sp>
        <p:nvSpPr>
          <p:cNvPr id="66" name="Google Shape;66;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e Groupe IONIS renforce son leadership dans les formations tech avec la  reprise de Supinfo - Newsroom IONIS Group" id="69" name="Google Shape;69;p88"/>
          <p:cNvPicPr preferRelativeResize="0"/>
          <p:nvPr/>
        </p:nvPicPr>
        <p:blipFill rotWithShape="1">
          <a:blip r:embed="rId2">
            <a:alphaModFix/>
          </a:blip>
          <a:srcRect b="0" l="0" r="0" t="0"/>
          <a:stretch/>
        </p:blipFill>
        <p:spPr>
          <a:xfrm>
            <a:off x="11245262" y="186359"/>
            <a:ext cx="757859" cy="757859"/>
          </a:xfrm>
          <a:prstGeom prst="rect">
            <a:avLst/>
          </a:prstGeom>
          <a:noFill/>
          <a:ln>
            <a:noFill/>
          </a:ln>
        </p:spPr>
      </p:pic>
      <p:sp>
        <p:nvSpPr>
          <p:cNvPr id="70" name="Google Shape;70;p88"/>
          <p:cNvSpPr txBox="1"/>
          <p:nvPr>
            <p:ph idx="1" type="body"/>
          </p:nvPr>
        </p:nvSpPr>
        <p:spPr>
          <a:xfrm>
            <a:off x="838200" y="384352"/>
            <a:ext cx="10508974" cy="56927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latin typeface="Calibri"/>
                <a:ea typeface="Calibri"/>
                <a:cs typeface="Calibri"/>
                <a:sym typeface="Calibri"/>
              </a:defRPr>
            </a:lvl1pPr>
            <a:lvl2pPr indent="-431800" lvl="1" marL="914400" algn="l">
              <a:lnSpc>
                <a:spcPct val="90000"/>
              </a:lnSpc>
              <a:spcBef>
                <a:spcPts val="500"/>
              </a:spcBef>
              <a:spcAft>
                <a:spcPts val="0"/>
              </a:spcAft>
              <a:buClr>
                <a:schemeClr val="dk1"/>
              </a:buClr>
              <a:buSzPts val="3200"/>
              <a:buChar char="•"/>
              <a:defRPr sz="3200"/>
            </a:lvl2pPr>
            <a:lvl3pPr indent="-406400" lvl="2" marL="1371600" algn="l">
              <a:lnSpc>
                <a:spcPct val="90000"/>
              </a:lnSpc>
              <a:spcBef>
                <a:spcPts val="500"/>
              </a:spcBef>
              <a:spcAft>
                <a:spcPts val="0"/>
              </a:spcAft>
              <a:buClr>
                <a:schemeClr val="dk1"/>
              </a:buClr>
              <a:buSzPts val="2800"/>
              <a:buChar char="•"/>
              <a:defRPr sz="2800"/>
            </a:lvl3pPr>
            <a:lvl4pPr indent="-381000" lvl="3" marL="1828800" algn="l">
              <a:lnSpc>
                <a:spcPct val="90000"/>
              </a:lnSpc>
              <a:spcBef>
                <a:spcPts val="500"/>
              </a:spcBef>
              <a:spcAft>
                <a:spcPts val="0"/>
              </a:spcAft>
              <a:buClr>
                <a:schemeClr val="dk1"/>
              </a:buClr>
              <a:buSzPts val="2400"/>
              <a:buChar char="•"/>
              <a:defRPr sz="2400"/>
            </a:lvl4pPr>
            <a:lvl5pPr indent="-381000" lvl="4" marL="2286000" algn="l">
              <a:lnSpc>
                <a:spcPct val="90000"/>
              </a:lnSpc>
              <a:spcBef>
                <a:spcPts val="500"/>
              </a:spcBef>
              <a:spcAft>
                <a:spcPts val="0"/>
              </a:spcAft>
              <a:buClr>
                <a:schemeClr val="dk1"/>
              </a:buClr>
              <a:buSzPts val="2400"/>
              <a:buChar char="•"/>
              <a:defRPr sz="2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88"/>
          <p:cNvSpPr txBox="1"/>
          <p:nvPr>
            <p:ph idx="2" type="body"/>
          </p:nvPr>
        </p:nvSpPr>
        <p:spPr>
          <a:xfrm>
            <a:off x="838200" y="1352782"/>
            <a:ext cx="10441597" cy="4247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2400"/>
              <a:buNone/>
              <a:defRPr b="1"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72" name="Shape 72"/>
        <p:cNvGrpSpPr/>
        <p:nvPr/>
      </p:nvGrpSpPr>
      <p:grpSpPr>
        <a:xfrm>
          <a:off x="0" y="0"/>
          <a:ext cx="0" cy="0"/>
          <a:chOff x="0" y="0"/>
          <a:chExt cx="0" cy="0"/>
        </a:xfrm>
      </p:grpSpPr>
      <p:sp>
        <p:nvSpPr>
          <p:cNvPr id="73" name="Google Shape;73;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e Groupe IONIS renforce son leadership dans les formations tech avec la  reprise de Supinfo - Newsroom IONIS Group" id="76" name="Google Shape;76;p89"/>
          <p:cNvPicPr preferRelativeResize="0"/>
          <p:nvPr/>
        </p:nvPicPr>
        <p:blipFill rotWithShape="1">
          <a:blip r:embed="rId2">
            <a:alphaModFix/>
          </a:blip>
          <a:srcRect b="0" l="0" r="0" t="0"/>
          <a:stretch/>
        </p:blipFill>
        <p:spPr>
          <a:xfrm>
            <a:off x="11245262" y="186359"/>
            <a:ext cx="757859" cy="7578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3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3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hyperlink" Target="https://ionicframework.com/docs/api"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 Id="rId3" Type="http://schemas.openxmlformats.org/officeDocument/2006/relationships/image" Target="../media/image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Ionic</a:t>
            </a:r>
            <a:endParaRPr/>
          </a:p>
        </p:txBody>
      </p:sp>
      <p:sp>
        <p:nvSpPr>
          <p:cNvPr id="83" name="Google Shape;83;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US"/>
              <a:t>4HYBD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idx="1" type="body"/>
          </p:nvPr>
        </p:nvSpPr>
        <p:spPr>
          <a:xfrm>
            <a:off x="838200" y="2176669"/>
            <a:ext cx="10515600" cy="40002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By the end of the course, students should:</a:t>
            </a:r>
            <a:endParaRPr/>
          </a:p>
          <a:p>
            <a:pPr indent="-342900" lvl="0" marL="457200" rtl="0" algn="l">
              <a:lnSpc>
                <a:spcPct val="90000"/>
              </a:lnSpc>
              <a:spcBef>
                <a:spcPts val="0"/>
              </a:spcBef>
              <a:spcAft>
                <a:spcPts val="0"/>
              </a:spcAft>
              <a:buSzPts val="1800"/>
              <a:buChar char="•"/>
            </a:pPr>
            <a:r>
              <a:rPr lang="en-US"/>
              <a:t>Setup an Ionic project</a:t>
            </a:r>
            <a:endParaRPr/>
          </a:p>
          <a:p>
            <a:pPr indent="-342900" lvl="0" marL="457200" rtl="0" algn="l">
              <a:lnSpc>
                <a:spcPct val="90000"/>
              </a:lnSpc>
              <a:spcBef>
                <a:spcPts val="0"/>
              </a:spcBef>
              <a:spcAft>
                <a:spcPts val="0"/>
              </a:spcAft>
              <a:buSzPts val="1800"/>
              <a:buChar char="•"/>
            </a:pPr>
            <a:r>
              <a:rPr lang="en-US"/>
              <a:t>Understand the structure</a:t>
            </a:r>
            <a:endParaRPr/>
          </a:p>
          <a:p>
            <a:pPr indent="-342900" lvl="0" marL="457200" rtl="0" algn="l">
              <a:lnSpc>
                <a:spcPct val="90000"/>
              </a:lnSpc>
              <a:spcBef>
                <a:spcPts val="0"/>
              </a:spcBef>
              <a:spcAft>
                <a:spcPts val="0"/>
              </a:spcAft>
              <a:buSzPts val="1800"/>
              <a:buChar char="•"/>
            </a:pPr>
            <a:r>
              <a:rPr lang="en-US"/>
              <a:t>Be able to know the basics components</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Clr>
                <a:schemeClr val="dk1"/>
              </a:buClr>
              <a:buSzPts val="1100"/>
              <a:buFont typeface="Arial"/>
              <a:buNone/>
            </a:pPr>
            <a:r>
              <a:rPr lang="en-US"/>
              <a:t>Time:</a:t>
            </a:r>
            <a:endParaRPr/>
          </a:p>
          <a:p>
            <a:pPr indent="-342900" lvl="0" marL="457200" rtl="0" algn="l">
              <a:lnSpc>
                <a:spcPct val="90000"/>
              </a:lnSpc>
              <a:spcBef>
                <a:spcPts val="0"/>
              </a:spcBef>
              <a:spcAft>
                <a:spcPts val="0"/>
              </a:spcAft>
              <a:buSzPts val="1800"/>
              <a:buChar char="-"/>
            </a:pPr>
            <a:r>
              <a:rPr lang="en-US"/>
              <a:t>course: 1.5h</a:t>
            </a:r>
            <a:endParaRPr/>
          </a:p>
          <a:p>
            <a:pPr indent="-342900" lvl="0" marL="457200" rtl="0" algn="l">
              <a:lnSpc>
                <a:spcPct val="90000"/>
              </a:lnSpc>
              <a:spcBef>
                <a:spcPts val="0"/>
              </a:spcBef>
              <a:spcAft>
                <a:spcPts val="0"/>
              </a:spcAft>
              <a:buSzPts val="1800"/>
              <a:buChar char="-"/>
            </a:pPr>
            <a:r>
              <a:rPr lang="en-US"/>
              <a:t>exercises: 2.5h</a:t>
            </a:r>
            <a:endParaRPr/>
          </a:p>
          <a:p>
            <a:pPr indent="0" lvl="0" marL="0" rtl="0" algn="l">
              <a:lnSpc>
                <a:spcPct val="90000"/>
              </a:lnSpc>
              <a:spcBef>
                <a:spcPts val="0"/>
              </a:spcBef>
              <a:spcAft>
                <a:spcPts val="0"/>
              </a:spcAft>
              <a:buSzPts val="1800"/>
              <a:buNone/>
            </a:pPr>
            <a:r>
              <a:t/>
            </a:r>
            <a:endParaRPr/>
          </a:p>
        </p:txBody>
      </p:sp>
      <p:sp>
        <p:nvSpPr>
          <p:cNvPr id="90" name="Google Shape;90;p2"/>
          <p:cNvSpPr txBox="1"/>
          <p:nvPr>
            <p:ph idx="2" type="body"/>
          </p:nvPr>
        </p:nvSpPr>
        <p:spPr>
          <a:xfrm>
            <a:off x="838200" y="384352"/>
            <a:ext cx="10508974" cy="5692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4HYBD – Ionic</a:t>
            </a:r>
            <a:endParaRPr/>
          </a:p>
        </p:txBody>
      </p:sp>
      <p:sp>
        <p:nvSpPr>
          <p:cNvPr id="91" name="Google Shape;91;p2"/>
          <p:cNvSpPr txBox="1"/>
          <p:nvPr>
            <p:ph idx="3" type="body"/>
          </p:nvPr>
        </p:nvSpPr>
        <p:spPr>
          <a:xfrm>
            <a:off x="838200" y="1352782"/>
            <a:ext cx="10441597" cy="424732"/>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dk1"/>
              </a:buClr>
              <a:buSzPts val="2400"/>
              <a:buNone/>
            </a:pPr>
            <a:r>
              <a:rPr lang="en-US"/>
              <a:t>Course Objectives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7"/>
          <p:cNvSpPr txBox="1"/>
          <p:nvPr>
            <p:ph idx="1" type="body"/>
          </p:nvPr>
        </p:nvSpPr>
        <p:spPr>
          <a:xfrm>
            <a:off x="831850" y="396327"/>
            <a:ext cx="10688150" cy="9144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None/>
            </a:pPr>
            <a:r>
              <a:rPr lang="en-US"/>
              <a:t>Summary</a:t>
            </a:r>
            <a:endParaRPr/>
          </a:p>
        </p:txBody>
      </p:sp>
      <p:sp>
        <p:nvSpPr>
          <p:cNvPr id="98" name="Google Shape;98;p7"/>
          <p:cNvSpPr txBox="1"/>
          <p:nvPr>
            <p:ph idx="2" type="body"/>
          </p:nvPr>
        </p:nvSpPr>
        <p:spPr>
          <a:xfrm>
            <a:off x="844550" y="2559496"/>
            <a:ext cx="10688150" cy="3560504"/>
          </a:xfrm>
          <a:prstGeom prst="rect">
            <a:avLst/>
          </a:prstGeom>
          <a:noFill/>
          <a:ln>
            <a:noFill/>
          </a:ln>
        </p:spPr>
        <p:txBody>
          <a:bodyPr anchorCtr="0" anchor="t" bIns="45700" lIns="91425" spcFirstLastPara="1" rIns="91425" wrap="square" tIns="45700">
            <a:normAutofit/>
          </a:bodyPr>
          <a:lstStyle/>
          <a:p>
            <a:pPr indent="-742950" lvl="0" marL="742950" rtl="0" algn="l">
              <a:lnSpc>
                <a:spcPct val="90000"/>
              </a:lnSpc>
              <a:spcBef>
                <a:spcPts val="0"/>
              </a:spcBef>
              <a:spcAft>
                <a:spcPts val="0"/>
              </a:spcAft>
              <a:buClr>
                <a:schemeClr val="lt1"/>
              </a:buClr>
              <a:buSzPts val="3600"/>
              <a:buFont typeface="Calibri"/>
              <a:buAutoNum type="arabicPeriod"/>
            </a:pPr>
            <a:r>
              <a:rPr lang="en-US"/>
              <a:t>Ionic</a:t>
            </a:r>
            <a:endParaRPr/>
          </a:p>
          <a:p>
            <a:pPr indent="-742950" lvl="0" marL="742950" rtl="0" algn="l">
              <a:lnSpc>
                <a:spcPct val="90000"/>
              </a:lnSpc>
              <a:spcBef>
                <a:spcPts val="0"/>
              </a:spcBef>
              <a:spcAft>
                <a:spcPts val="0"/>
              </a:spcAft>
              <a:buSzPts val="3600"/>
              <a:buAutoNum type="arabicPeriod"/>
            </a:pPr>
            <a:r>
              <a:rPr lang="en-US"/>
              <a:t>Setup</a:t>
            </a:r>
            <a:endParaRPr/>
          </a:p>
          <a:p>
            <a:pPr indent="-742950" lvl="0" marL="742950" rtl="0" algn="l">
              <a:lnSpc>
                <a:spcPct val="90000"/>
              </a:lnSpc>
              <a:spcBef>
                <a:spcPts val="0"/>
              </a:spcBef>
              <a:spcAft>
                <a:spcPts val="0"/>
              </a:spcAft>
              <a:buSzPts val="3600"/>
              <a:buAutoNum type="arabicPeriod"/>
            </a:pPr>
            <a:r>
              <a:rPr lang="en-US"/>
              <a:t>Ionic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txBox="1"/>
          <p:nvPr>
            <p:ph idx="1" type="body"/>
          </p:nvPr>
        </p:nvSpPr>
        <p:spPr>
          <a:xfrm>
            <a:off x="844550" y="1786740"/>
            <a:ext cx="10515600" cy="2851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None/>
            </a:pPr>
            <a:r>
              <a:rPr lang="en-US"/>
              <a:t>1. Ionic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2c136d33009_1_240"/>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The Ionic Framework enables cross-platform development by allowing developers to use web technologies like HTML, CSS, and JavaScript to create applications.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These applications can be deployed on iOS, Android, and the web without the need to rewrite the code for each platform, providing a streamlined development process.</a:t>
            </a:r>
            <a:endParaRPr/>
          </a:p>
        </p:txBody>
      </p:sp>
      <p:sp>
        <p:nvSpPr>
          <p:cNvPr id="111" name="Google Shape;111;g2c136d33009_1_240"/>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1ff22d4f51b_0_0"/>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Ionic comes equipped with a comprehensive set of pre-styled and optimized UI components.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These components are designed to mimic native elements and automatically adapt to the platform on which the application is running, ensuring a consistent user experience across different devices.</a:t>
            </a:r>
            <a:endParaRPr/>
          </a:p>
        </p:txBody>
      </p:sp>
      <p:sp>
        <p:nvSpPr>
          <p:cNvPr id="118" name="Google Shape;118;g1ff22d4f51b_0_0"/>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1ff22d4f51b_0_6"/>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100"/>
              <a:buNone/>
            </a:pPr>
            <a:r>
              <a:rPr lang="en-US"/>
              <a:t>Initially designed to integrate seamlessly with Angular, the Ionic Framework has expanded to support other popular frameworks such as React and Vue.js. </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US"/>
              <a:t>This versatility makes it an attractive option for a wide range of web developers looking to build interactive and modern applications, being able to support all major framework that can be used in companies.</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90000"/>
              </a:lnSpc>
              <a:spcBef>
                <a:spcPts val="0"/>
              </a:spcBef>
              <a:spcAft>
                <a:spcPts val="0"/>
              </a:spcAft>
              <a:buSzPts val="1800"/>
              <a:buNone/>
            </a:pPr>
            <a:r>
              <a:t/>
            </a:r>
            <a:endParaRPr/>
          </a:p>
        </p:txBody>
      </p:sp>
      <p:sp>
        <p:nvSpPr>
          <p:cNvPr id="125" name="Google Shape;125;g1ff22d4f51b_0_6"/>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1ff22d4f51b_0_1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Applications built with Ionic run on top of the device's web browser through WebViews, but they can also utilize native code to access more sophisticated device features and optimizations via plugins.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hybrid approach allows for a balance between performance and accessibility of web technologies.</a:t>
            </a:r>
            <a:endParaRPr/>
          </a:p>
        </p:txBody>
      </p:sp>
      <p:sp>
        <p:nvSpPr>
          <p:cNvPr id="132" name="Google Shape;132;g1ff22d4f51b_0_1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1ff22d4f51b_0_18"/>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Ionic leverages Capacitor, its own native bridge, to call native SDKs from the web code, as well as Cordova for additional support in accessing native device features such as the camera and GPS.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These tools enhance the functionality of Ionic applications, allowing them to interact more deeply with the host device by providing core support of features that would not be normally accessible on a pure web based application.</a:t>
            </a:r>
            <a:endParaRPr/>
          </a:p>
        </p:txBody>
      </p:sp>
      <p:sp>
        <p:nvSpPr>
          <p:cNvPr id="139" name="Google Shape;139;g1ff22d4f51b_0_18"/>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ff22d4f51b_0_24"/>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Ionic benefits from a robust community of developers and a comprehensive ecosystem of plugins and third-party tools.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support network enables developers to add complex functionalities to their applications and helps ensure that there are ample resources for troubleshooting and enhancement.</a:t>
            </a:r>
            <a:endParaRPr/>
          </a:p>
        </p:txBody>
      </p:sp>
      <p:sp>
        <p:nvSpPr>
          <p:cNvPr id="146" name="Google Shape;146;g1ff22d4f51b_0_24"/>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ff22d4f51b_0_30"/>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a:t>
            </a:r>
            <a:r>
              <a:rPr lang="en-US"/>
              <a:t>onic offers a suite of development tools and services designed to streamline the app development process.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Ionic Studio, for instance, is a powerful IDE that facilitates the building of applications, while Ionic Appflow provides a mobile CI/CD service that simplifies the process of building and deploying apps directly to app stores.</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But you can also use any IDE you do like, and using CI/CD using the solution you do prefere, from Github Action to Gitlab jobs.</a:t>
            </a:r>
            <a:endParaRPr/>
          </a:p>
        </p:txBody>
      </p:sp>
      <p:sp>
        <p:nvSpPr>
          <p:cNvPr id="153" name="Google Shape;153;g1ff22d4f51b_0_30"/>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1ff22d4f51b_0_36"/>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Ionic is built to perform and behave great on the latest mobile devices</a:t>
            </a:r>
            <a:endParaRPr/>
          </a:p>
          <a:p>
            <a:pPr indent="0" lvl="0" marL="0" rtl="0" algn="l">
              <a:spcBef>
                <a:spcPts val="0"/>
              </a:spcBef>
              <a:spcAft>
                <a:spcPts val="0"/>
              </a:spcAft>
              <a:buClr>
                <a:schemeClr val="dk1"/>
              </a:buClr>
              <a:buSzPts val="1100"/>
              <a:buFont typeface="Arial"/>
              <a:buNone/>
            </a:pPr>
            <a:r>
              <a:rPr lang="en-US"/>
              <a:t>with best practices like efficient hardware accelerated transitions,</a:t>
            </a:r>
            <a:endParaRPr/>
          </a:p>
          <a:p>
            <a:pPr indent="0" lvl="0" marL="0" rtl="0" algn="l">
              <a:spcBef>
                <a:spcPts val="0"/>
              </a:spcBef>
              <a:spcAft>
                <a:spcPts val="0"/>
              </a:spcAft>
              <a:buSzPts val="1100"/>
              <a:buNone/>
            </a:pPr>
            <a:r>
              <a:rPr lang="en-US"/>
              <a:t>and touch-optimized gestures.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Ionic emulates native app UI guidelines and uses native SDKs,</a:t>
            </a:r>
            <a:endParaRPr/>
          </a:p>
          <a:p>
            <a:pPr indent="0" lvl="0" marL="0" rtl="0" algn="l">
              <a:spcBef>
                <a:spcPts val="0"/>
              </a:spcBef>
              <a:spcAft>
                <a:spcPts val="0"/>
              </a:spcAft>
              <a:buSzPts val="1100"/>
              <a:buNone/>
            </a:pPr>
            <a:r>
              <a:rPr lang="en-US"/>
              <a:t>bringing the UI standards and device features of native apps together</a:t>
            </a:r>
            <a:endParaRPr/>
          </a:p>
          <a:p>
            <a:pPr indent="0" lvl="0" marL="0" rtl="0" algn="l">
              <a:spcBef>
                <a:spcPts val="0"/>
              </a:spcBef>
              <a:spcAft>
                <a:spcPts val="0"/>
              </a:spcAft>
              <a:buSzPts val="1100"/>
              <a:buNone/>
            </a:pPr>
            <a:r>
              <a:rPr lang="en-US"/>
              <a:t>with the full power and flexibility of the open web.</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Ionic uses Capacitor (or Cordova) to deploy natively, or runs in the</a:t>
            </a:r>
            <a:endParaRPr/>
          </a:p>
          <a:p>
            <a:pPr indent="0" lvl="0" marL="0" rtl="0" algn="l">
              <a:spcBef>
                <a:spcPts val="0"/>
              </a:spcBef>
              <a:spcAft>
                <a:spcPts val="0"/>
              </a:spcAft>
              <a:buClr>
                <a:schemeClr val="dk1"/>
              </a:buClr>
              <a:buSzPts val="1100"/>
              <a:buFont typeface="Arial"/>
              <a:buNone/>
            </a:pPr>
            <a:r>
              <a:rPr lang="en-US"/>
              <a:t>browser as a Progressive Web App.</a:t>
            </a:r>
            <a:endParaRPr/>
          </a:p>
          <a:p>
            <a:pPr indent="0" lvl="0" marL="0" rtl="0" algn="l">
              <a:lnSpc>
                <a:spcPct val="90000"/>
              </a:lnSpc>
              <a:spcBef>
                <a:spcPts val="0"/>
              </a:spcBef>
              <a:spcAft>
                <a:spcPts val="0"/>
              </a:spcAft>
              <a:buSzPts val="1800"/>
              <a:buNone/>
            </a:pPr>
            <a:r>
              <a:t/>
            </a:r>
            <a:endParaRPr/>
          </a:p>
        </p:txBody>
      </p:sp>
      <p:sp>
        <p:nvSpPr>
          <p:cNvPr id="160" name="Google Shape;160;g1ff22d4f51b_0_36"/>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1ff22d4f51b_0_4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Ionic is utilized across various domains, including enterprise applications where businesses need to integrate apps seamlessly with existing systems, e-commerce apps that provide rich user experiences across multiple platforms, and healthcare apps that require secure and effective operation on a variety of mobile devices.</a:t>
            </a:r>
            <a:endParaRPr/>
          </a:p>
        </p:txBody>
      </p:sp>
      <p:sp>
        <p:nvSpPr>
          <p:cNvPr id="167" name="Google Shape;167;g1ff22d4f51b_0_4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1ff22d4f51b_0_5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This makes Ionic an ideal choice for organizations that wish to leverage their existing web development skills to create versatile and functional mobile applications without committing extensive resources to native development for each platform.</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90000"/>
              </a:lnSpc>
              <a:spcBef>
                <a:spcPts val="0"/>
              </a:spcBef>
              <a:spcAft>
                <a:spcPts val="0"/>
              </a:spcAft>
              <a:buSzPts val="1800"/>
              <a:buNone/>
            </a:pPr>
            <a:r>
              <a:t/>
            </a:r>
            <a:endParaRPr/>
          </a:p>
        </p:txBody>
      </p:sp>
      <p:sp>
        <p:nvSpPr>
          <p:cNvPr id="174" name="Google Shape;174;g1ff22d4f51b_0_5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1ff22d4f51b_0_6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Ionic has been used by several large companies to build various applications, leveraging its flexibility and the ease with which it integrates with different technologies.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Here are examples of applications from larger companies that have utilized the Ionic Framework, showing that it can be used by all size </a:t>
            </a:r>
            <a:r>
              <a:rPr lang="en-US"/>
              <a:t>companies from every sector.</a:t>
            </a:r>
            <a:endParaRPr/>
          </a:p>
        </p:txBody>
      </p:sp>
      <p:sp>
        <p:nvSpPr>
          <p:cNvPr id="181" name="Google Shape;181;g1ff22d4f51b_0_6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ff22d4f51b_0_69"/>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National Health Service (NHS)</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 NHS in the UK developed their app using the Ionic Framework. The NHS app allows users to access a variety of services including booking appointments, ordering repeat prescriptions, and viewing their medical records. Ionic's ability to work across platforms was crucial for ensuring accessibility on various devices.</a:t>
            </a:r>
            <a:endParaRPr/>
          </a:p>
        </p:txBody>
      </p:sp>
      <p:sp>
        <p:nvSpPr>
          <p:cNvPr id="188" name="Google Shape;188;g1ff22d4f51b_0_69"/>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1ff22d4f51b_0_75"/>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Amtrak</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 American railroad service uses Ionic to power its mobile booking and trip management application. This app provides functionalities such as booking tickets, checking train statuses, and managing reservations, all within a user-friendly interface made possible by Ionic's robust component library.</a:t>
            </a:r>
            <a:endParaRPr/>
          </a:p>
        </p:txBody>
      </p:sp>
      <p:sp>
        <p:nvSpPr>
          <p:cNvPr id="195" name="Google Shape;195;g1ff22d4f51b_0_75"/>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1ff22d4f51b_0_8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Just Eat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 international online food order and delivery service has utilized Ionic to develop parts of its customer-facing mobile application. This enables users to browse menus, place orders, and pay for their food from their smartphones. Ionic's efficient performance and ease of use were key factors in its selection.</a:t>
            </a:r>
            <a:endParaRPr/>
          </a:p>
        </p:txBody>
      </p:sp>
      <p:sp>
        <p:nvSpPr>
          <p:cNvPr id="202" name="Google Shape;202;g1ff22d4f51b_0_8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1ff22d4f51b_0_9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Airbus Helicopters</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Airbus Helicopters developed the Airbus Helicopters HCare Fleet app with Ionic, which is used for managing the maintenance and logistics of helicopters. The application provides technical information and tracking tools, critical for maintaining the safety and operational efficiency of the fleet.</a:t>
            </a:r>
            <a:endParaRPr/>
          </a:p>
        </p:txBody>
      </p:sp>
      <p:sp>
        <p:nvSpPr>
          <p:cNvPr id="209" name="Google Shape;209;g1ff22d4f51b_0_9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1ff22d4f51b_0_98"/>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MarketWatch</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MarketWatch, known for providing financial information, news, and analysis, has also used Ionic to develop its application. This app delivers up-to-date market data and news to users, benefiting from Ionic's ability to integrate smoothly with various backend services and APIs to fetch real-time data.</a:t>
            </a:r>
            <a:endParaRPr/>
          </a:p>
        </p:txBody>
      </p:sp>
      <p:sp>
        <p:nvSpPr>
          <p:cNvPr id="216" name="Google Shape;216;g1ff22d4f51b_0_98"/>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1ff22d4f51b_0_104"/>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These applications demonstrate Ionic's strength in creating diverse solutions, from health and fitness to financial tracking and entertainment platforms, all benefiting from its cross-platform capabilities and robust UI toolkit.</a:t>
            </a:r>
            <a:endParaRPr/>
          </a:p>
        </p:txBody>
      </p:sp>
      <p:sp>
        <p:nvSpPr>
          <p:cNvPr id="223" name="Google Shape;223;g1ff22d4f51b_0_104"/>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1. Ionic</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g2c81011df6a_0_12"/>
          <p:cNvPicPr preferRelativeResize="0"/>
          <p:nvPr/>
        </p:nvPicPr>
        <p:blipFill rotWithShape="1">
          <a:blip r:embed="rId3">
            <a:alphaModFix/>
          </a:blip>
          <a:srcRect b="0" l="0" r="0" t="0"/>
          <a:stretch/>
        </p:blipFill>
        <p:spPr>
          <a:xfrm>
            <a:off x="4882413" y="2215413"/>
            <a:ext cx="2427174" cy="2427174"/>
          </a:xfrm>
          <a:prstGeom prst="rect">
            <a:avLst/>
          </a:prstGeom>
          <a:noFill/>
          <a:ln>
            <a:noFill/>
          </a:ln>
        </p:spPr>
      </p:pic>
      <p:sp>
        <p:nvSpPr>
          <p:cNvPr id="230" name="Google Shape;230;g2c81011df6a_0_12"/>
          <p:cNvSpPr txBox="1"/>
          <p:nvPr/>
        </p:nvSpPr>
        <p:spPr>
          <a:xfrm>
            <a:off x="4964200" y="4642575"/>
            <a:ext cx="2454000" cy="459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Exercises</a:t>
            </a:r>
            <a:endParaRPr b="0" i="0" sz="2800" u="none" cap="none" strike="noStrike">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2c81011df6a_0_18"/>
          <p:cNvSpPr txBox="1"/>
          <p:nvPr>
            <p:ph idx="1" type="body"/>
          </p:nvPr>
        </p:nvSpPr>
        <p:spPr>
          <a:xfrm>
            <a:off x="838199" y="365126"/>
            <a:ext cx="10515600" cy="579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c81011df6a_0_23"/>
          <p:cNvSpPr txBox="1"/>
          <p:nvPr>
            <p:ph idx="1" type="body"/>
          </p:nvPr>
        </p:nvSpPr>
        <p:spPr>
          <a:xfrm>
            <a:off x="844550" y="1786740"/>
            <a:ext cx="10515600" cy="2851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None/>
            </a:pPr>
            <a:r>
              <a:rPr lang="en-US"/>
              <a:t>2. Setup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2c60c5209d3_0_10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Setting up a new Ionic Framework project using React involves a few simple steps that leverage Node.js and npm (Node Package Manager).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Before starting, ensure you have Node.js and npm installed on your machine (you should already know how to use and install that).</a:t>
            </a:r>
            <a:endParaRPr/>
          </a:p>
          <a:p>
            <a:pPr indent="0" lvl="0" marL="0" rtl="0" algn="l">
              <a:lnSpc>
                <a:spcPct val="90000"/>
              </a:lnSpc>
              <a:spcBef>
                <a:spcPts val="0"/>
              </a:spcBef>
              <a:spcAft>
                <a:spcPts val="0"/>
              </a:spcAft>
              <a:buSzPts val="1800"/>
              <a:buNone/>
            </a:pPr>
            <a:r>
              <a:t/>
            </a:r>
            <a:endParaRPr/>
          </a:p>
          <a:p>
            <a:pPr indent="0" lvl="0" marL="0" rtl="0" algn="l">
              <a:spcBef>
                <a:spcPts val="0"/>
              </a:spcBef>
              <a:spcAft>
                <a:spcPts val="0"/>
              </a:spcAft>
              <a:buClr>
                <a:schemeClr val="dk1"/>
              </a:buClr>
              <a:buSzPts val="1100"/>
              <a:buFont typeface="Arial"/>
              <a:buNone/>
            </a:pPr>
            <a:r>
              <a:rPr lang="en-US"/>
              <a:t>Ionic comes with a full CLI that allows you to create and build your</a:t>
            </a:r>
            <a:endParaRPr/>
          </a:p>
          <a:p>
            <a:pPr indent="0" lvl="0" marL="0" rtl="0" algn="l">
              <a:spcBef>
                <a:spcPts val="0"/>
              </a:spcBef>
              <a:spcAft>
                <a:spcPts val="0"/>
              </a:spcAft>
              <a:buClr>
                <a:schemeClr val="dk1"/>
              </a:buClr>
              <a:buSzPts val="1100"/>
              <a:buFont typeface="Arial"/>
              <a:buNone/>
            </a:pPr>
            <a:r>
              <a:rPr lang="en-US"/>
              <a:t>project. For that you can install it globally or use npx - for both of</a:t>
            </a:r>
            <a:endParaRPr/>
          </a:p>
          <a:p>
            <a:pPr indent="0" lvl="0" marL="0" rtl="0" algn="l">
              <a:spcBef>
                <a:spcPts val="0"/>
              </a:spcBef>
              <a:spcAft>
                <a:spcPts val="0"/>
              </a:spcAft>
              <a:buClr>
                <a:schemeClr val="dk1"/>
              </a:buClr>
              <a:buSzPts val="1100"/>
              <a:buFont typeface="Arial"/>
              <a:buNone/>
            </a:pPr>
            <a:r>
              <a:rPr lang="en-US"/>
              <a:t>them you need to have Node.js installed on your system (current LTS</a:t>
            </a:r>
            <a:endParaRPr/>
          </a:p>
          <a:p>
            <a:pPr indent="0" lvl="0" marL="0" rtl="0" algn="l">
              <a:spcBef>
                <a:spcPts val="0"/>
              </a:spcBef>
              <a:spcAft>
                <a:spcPts val="0"/>
              </a:spcAft>
              <a:buClr>
                <a:schemeClr val="dk1"/>
              </a:buClr>
              <a:buSzPts val="1100"/>
              <a:buFont typeface="Arial"/>
              <a:buNone/>
            </a:pPr>
            <a:r>
              <a:rPr lang="en-US"/>
              <a:t>is Node.js v20)</a:t>
            </a:r>
            <a:endParaRPr/>
          </a:p>
          <a:p>
            <a:pPr indent="0" lvl="0" marL="0" rtl="0" algn="l">
              <a:lnSpc>
                <a:spcPct val="90000"/>
              </a:lnSpc>
              <a:spcBef>
                <a:spcPts val="0"/>
              </a:spcBef>
              <a:spcAft>
                <a:spcPts val="0"/>
              </a:spcAft>
              <a:buSzPts val="1800"/>
              <a:buNone/>
            </a:pPr>
            <a:r>
              <a:t/>
            </a:r>
            <a:endParaRPr/>
          </a:p>
        </p:txBody>
      </p:sp>
      <p:sp>
        <p:nvSpPr>
          <p:cNvPr id="249" name="Google Shape;249;g2c60c5209d3_0_10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1ff22d4f51b_0_14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First, you need to install the Ionic Command Line Interface (CLI) globally on your computer. Open your terminal or command prompt and run the following command.</a:t>
            </a:r>
            <a:endParaRPr/>
          </a:p>
        </p:txBody>
      </p:sp>
      <p:sp>
        <p:nvSpPr>
          <p:cNvPr id="256" name="Google Shape;256;g1ff22d4f51b_0_14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257" name="Google Shape;257;g1ff22d4f51b_0_142"/>
          <p:cNvPicPr preferRelativeResize="0"/>
          <p:nvPr/>
        </p:nvPicPr>
        <p:blipFill>
          <a:blip r:embed="rId3">
            <a:alphaModFix/>
          </a:blip>
          <a:stretch>
            <a:fillRect/>
          </a:stretch>
        </p:blipFill>
        <p:spPr>
          <a:xfrm>
            <a:off x="3857625" y="3057525"/>
            <a:ext cx="4476750" cy="742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1ff22d4f51b_0_148"/>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Once the Ionic CLI is installed, you can create a new project. To start a new Ionic project with React, use the following command:</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Replace myApp with whatever you want to name your project. The CLI will ask you to choose a template for your new project.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You can select from several templates such as blank, tabs, sidemenu, etc. Let’s use the “tabs” one as a default one for this setup.</a:t>
            </a:r>
            <a:endParaRPr/>
          </a:p>
        </p:txBody>
      </p:sp>
      <p:sp>
        <p:nvSpPr>
          <p:cNvPr id="264" name="Google Shape;264;g1ff22d4f51b_0_148"/>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265" name="Google Shape;265;g1ff22d4f51b_0_148"/>
          <p:cNvPicPr preferRelativeResize="0"/>
          <p:nvPr/>
        </p:nvPicPr>
        <p:blipFill>
          <a:blip r:embed="rId3">
            <a:alphaModFix/>
          </a:blip>
          <a:stretch>
            <a:fillRect/>
          </a:stretch>
        </p:blipFill>
        <p:spPr>
          <a:xfrm>
            <a:off x="3857625" y="2686050"/>
            <a:ext cx="4476750" cy="7429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1ff22d4f51b_0_154"/>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To start your application and see it in action, run the following command in your project directory:</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command will compile your app and host it on a local development server. Your default web browser should automatically open to http://localhost:8100 where you can see your new Ionic React app running.</a:t>
            </a:r>
            <a:endParaRPr/>
          </a:p>
        </p:txBody>
      </p:sp>
      <p:sp>
        <p:nvSpPr>
          <p:cNvPr id="272" name="Google Shape;272;g1ff22d4f51b_0_154"/>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273" name="Google Shape;273;g1ff22d4f51b_0_154"/>
          <p:cNvPicPr preferRelativeResize="0"/>
          <p:nvPr/>
        </p:nvPicPr>
        <p:blipFill>
          <a:blip r:embed="rId3">
            <a:alphaModFix/>
          </a:blip>
          <a:stretch>
            <a:fillRect/>
          </a:stretch>
        </p:blipFill>
        <p:spPr>
          <a:xfrm>
            <a:off x="3857625" y="2738025"/>
            <a:ext cx="4476750" cy="742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1ff22d4f51b_0_166"/>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80" name="Google Shape;280;g1ff22d4f51b_0_166"/>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281" name="Google Shape;281;g1ff22d4f51b_0_166"/>
          <p:cNvPicPr preferRelativeResize="0"/>
          <p:nvPr/>
        </p:nvPicPr>
        <p:blipFill>
          <a:blip r:embed="rId3">
            <a:alphaModFix/>
          </a:blip>
          <a:stretch>
            <a:fillRect/>
          </a:stretch>
        </p:blipFill>
        <p:spPr>
          <a:xfrm>
            <a:off x="1031287" y="1013587"/>
            <a:ext cx="10129423" cy="5722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1ff22d4f51b_0_160"/>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You can now start modifying your app by editing the React components in the src directory.</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Ionic uses standard React component structure and styling, with additional Ionic components that you can include as needed.</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setup gets you started with an Ionic project using React, leveraging Ionic’s component library and the React framework to build interactive mobile applications that can be deployed across multiple platforms.</a:t>
            </a:r>
            <a:endParaRPr/>
          </a:p>
        </p:txBody>
      </p:sp>
      <p:sp>
        <p:nvSpPr>
          <p:cNvPr id="288" name="Google Shape;288;g1ff22d4f51b_0_160"/>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ff22d4f51b_0_17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Let’s spend some time checking the content of the default project that we just generated. </a:t>
            </a:r>
            <a:br>
              <a:rPr lang="en-US"/>
            </a:br>
            <a:br>
              <a:rPr lang="en-US"/>
            </a:br>
            <a:r>
              <a:rPr lang="en-US"/>
              <a:t>As you have experience with React (and other framework) you should be very familiar with the content and organization of the files and folders.</a:t>
            </a:r>
            <a:endParaRPr/>
          </a:p>
        </p:txBody>
      </p:sp>
      <p:sp>
        <p:nvSpPr>
          <p:cNvPr id="295" name="Google Shape;295;g1ff22d4f51b_0_17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1ff22d4f51b_0_178"/>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02" name="Google Shape;302;g1ff22d4f51b_0_178"/>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303" name="Google Shape;303;g1ff22d4f51b_0_178"/>
          <p:cNvPicPr preferRelativeResize="0"/>
          <p:nvPr/>
        </p:nvPicPr>
        <p:blipFill>
          <a:blip r:embed="rId3">
            <a:alphaModFix/>
          </a:blip>
          <a:stretch>
            <a:fillRect/>
          </a:stretch>
        </p:blipFill>
        <p:spPr>
          <a:xfrm>
            <a:off x="4504719" y="0"/>
            <a:ext cx="3182563" cy="6858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1ff22d4f51b_0_184"/>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You can see all the configuration files at the root of the project, with most of them that you know of.</a:t>
            </a:r>
            <a:endParaRPr/>
          </a:p>
          <a:p>
            <a:pPr indent="0" lvl="0" marL="0" rtl="0" algn="l">
              <a:lnSpc>
                <a:spcPct val="90000"/>
              </a:lnSpc>
              <a:spcBef>
                <a:spcPts val="0"/>
              </a:spcBef>
              <a:spcAft>
                <a:spcPts val="0"/>
              </a:spcAft>
              <a:buSzPts val="1800"/>
              <a:buNone/>
            </a:pPr>
            <a:r>
              <a:t/>
            </a:r>
            <a:endParaRPr/>
          </a:p>
          <a:p>
            <a:pPr indent="-342900" lvl="0" marL="457200" rtl="0" algn="l">
              <a:lnSpc>
                <a:spcPct val="90000"/>
              </a:lnSpc>
              <a:spcBef>
                <a:spcPts val="0"/>
              </a:spcBef>
              <a:spcAft>
                <a:spcPts val="0"/>
              </a:spcAft>
              <a:buSzPts val="1800"/>
              <a:buChar char="•"/>
            </a:pPr>
            <a:r>
              <a:rPr lang="en-US"/>
              <a:t>package.json and package-lock.json</a:t>
            </a:r>
            <a:endParaRPr/>
          </a:p>
          <a:p>
            <a:pPr indent="-342900" lvl="0" marL="457200" rtl="0" algn="l">
              <a:lnSpc>
                <a:spcPct val="90000"/>
              </a:lnSpc>
              <a:spcBef>
                <a:spcPts val="0"/>
              </a:spcBef>
              <a:spcAft>
                <a:spcPts val="0"/>
              </a:spcAft>
              <a:buSzPts val="1800"/>
              <a:buChar char="•"/>
            </a:pPr>
            <a:r>
              <a:rPr lang="en-US"/>
              <a:t>tsconfig</a:t>
            </a:r>
            <a:endParaRPr/>
          </a:p>
          <a:p>
            <a:pPr indent="-342900" lvl="0" marL="457200" rtl="0" algn="l">
              <a:lnSpc>
                <a:spcPct val="90000"/>
              </a:lnSpc>
              <a:spcBef>
                <a:spcPts val="0"/>
              </a:spcBef>
              <a:spcAft>
                <a:spcPts val="0"/>
              </a:spcAft>
              <a:buSzPts val="1800"/>
              <a:buChar char="•"/>
            </a:pPr>
            <a:r>
              <a:rPr lang="en-US"/>
              <a:t>vite config</a:t>
            </a:r>
            <a:endParaRPr/>
          </a:p>
          <a:p>
            <a:pPr indent="-342900" lvl="0" marL="457200" rtl="0" algn="l">
              <a:lnSpc>
                <a:spcPct val="90000"/>
              </a:lnSpc>
              <a:spcBef>
                <a:spcPts val="0"/>
              </a:spcBef>
              <a:spcAft>
                <a:spcPts val="0"/>
              </a:spcAft>
              <a:buSzPts val="1800"/>
              <a:buChar char="•"/>
            </a:pPr>
            <a:r>
              <a:rPr lang="en-US"/>
              <a:t>ionic config</a:t>
            </a:r>
            <a:endParaRPr/>
          </a:p>
          <a:p>
            <a:pPr indent="-342900" lvl="0" marL="457200" rtl="0" algn="l">
              <a:lnSpc>
                <a:spcPct val="90000"/>
              </a:lnSpc>
              <a:spcBef>
                <a:spcPts val="0"/>
              </a:spcBef>
              <a:spcAft>
                <a:spcPts val="0"/>
              </a:spcAft>
              <a:buSzPts val="1800"/>
              <a:buChar char="•"/>
            </a:pPr>
            <a:r>
              <a:rPr lang="en-US"/>
              <a:t>cypress config</a:t>
            </a:r>
            <a:endParaRPr/>
          </a:p>
          <a:p>
            <a:pPr indent="-342900" lvl="0" marL="457200" rtl="0" algn="l">
              <a:lnSpc>
                <a:spcPct val="90000"/>
              </a:lnSpc>
              <a:spcBef>
                <a:spcPts val="0"/>
              </a:spcBef>
              <a:spcAft>
                <a:spcPts val="0"/>
              </a:spcAft>
              <a:buSzPts val="1800"/>
              <a:buChar char="•"/>
            </a:pPr>
            <a:r>
              <a:rPr lang="en-US"/>
              <a:t>capacitor config</a:t>
            </a:r>
            <a:endParaRPr/>
          </a:p>
        </p:txBody>
      </p:sp>
      <p:sp>
        <p:nvSpPr>
          <p:cNvPr id="310" name="Google Shape;310;g1ff22d4f51b_0_184"/>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1ff22d4f51b_0_190"/>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17" name="Google Shape;317;g1ff22d4f51b_0_190"/>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318" name="Google Shape;318;g1ff22d4f51b_0_190"/>
          <p:cNvPicPr preferRelativeResize="0"/>
          <p:nvPr/>
        </p:nvPicPr>
        <p:blipFill>
          <a:blip r:embed="rId3">
            <a:alphaModFix/>
          </a:blip>
          <a:stretch>
            <a:fillRect/>
          </a:stretch>
        </p:blipFill>
        <p:spPr>
          <a:xfrm>
            <a:off x="3171100" y="1038375"/>
            <a:ext cx="5849800" cy="56729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1ff22d4f51b_0_196"/>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As you can see, Ionic use vite as the base tooling setup. You can work and change the configuration, but most of the time - except if you need customization - you won’t change it.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In the file generated we can see that it uses the react plugin and a link to the jest configuration file (or setup) for your project.</a:t>
            </a:r>
            <a:endParaRPr/>
          </a:p>
        </p:txBody>
      </p:sp>
      <p:sp>
        <p:nvSpPr>
          <p:cNvPr id="325" name="Google Shape;325;g1ff22d4f51b_0_196"/>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1ff22d4f51b_0_27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32" name="Google Shape;332;g1ff22d4f51b_0_27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333" name="Google Shape;333;g1ff22d4f51b_0_271"/>
          <p:cNvPicPr preferRelativeResize="0"/>
          <p:nvPr/>
        </p:nvPicPr>
        <p:blipFill>
          <a:blip r:embed="rId3">
            <a:alphaModFix/>
          </a:blip>
          <a:stretch>
            <a:fillRect/>
          </a:stretch>
        </p:blipFill>
        <p:spPr>
          <a:xfrm>
            <a:off x="2000250" y="914400"/>
            <a:ext cx="8191500" cy="5029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1ff22d4f51b_0_27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The tsconfig.node.json file in a TypeScript project is a configuration file specifically used for setting up TypeScript options that are tailored for Node.js environments.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configuration file extends or modifies settings from a base tsconfig.json file, which is generally used to define options for compiling a TypeScript project.</a:t>
            </a:r>
            <a:endParaRPr/>
          </a:p>
        </p:txBody>
      </p:sp>
      <p:sp>
        <p:nvSpPr>
          <p:cNvPr id="340" name="Google Shape;340;g1ff22d4f51b_0_27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1ff22d4f51b_0_28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47" name="Google Shape;347;g1ff22d4f51b_0_28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348" name="Google Shape;348;g1ff22d4f51b_0_283"/>
          <p:cNvPicPr preferRelativeResize="0"/>
          <p:nvPr/>
        </p:nvPicPr>
        <p:blipFill>
          <a:blip r:embed="rId3">
            <a:alphaModFix/>
          </a:blip>
          <a:stretch>
            <a:fillRect/>
          </a:stretch>
        </p:blipFill>
        <p:spPr>
          <a:xfrm>
            <a:off x="3115375" y="922725"/>
            <a:ext cx="5961243" cy="590424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1ff22d4f51b_0_289"/>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The tsconfig.json file is a central part of a TypeScript project, acting as the configuration file for the TypeScript compiler. This file specifies how TypeScript code is compiled into JavaScript, defining a variety of compiler options and behaviors.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 presence of a tsconfig.json file in a directory indicates that the directory is the root of a TypeScript project.</a:t>
            </a:r>
            <a:endParaRPr/>
          </a:p>
        </p:txBody>
      </p:sp>
      <p:sp>
        <p:nvSpPr>
          <p:cNvPr id="355" name="Google Shape;355;g1ff22d4f51b_0_289"/>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1ff22d4f51b_0_295"/>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62" name="Google Shape;362;g1ff22d4f51b_0_295"/>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363" name="Google Shape;363;g1ff22d4f51b_0_295"/>
          <p:cNvPicPr preferRelativeResize="0"/>
          <p:nvPr/>
        </p:nvPicPr>
        <p:blipFill>
          <a:blip r:embed="rId3">
            <a:alphaModFix/>
          </a:blip>
          <a:stretch>
            <a:fillRect/>
          </a:stretch>
        </p:blipFill>
        <p:spPr>
          <a:xfrm>
            <a:off x="2705100" y="1219200"/>
            <a:ext cx="6781800" cy="4419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1ff22d4f51b_0_30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The ionic.config.json file is a crucial configuration file used in projects developed with the Ionic Framework. It contains metadata and configuration settings specific to how the Ionic CLI interacts with your project. This configuration impacts how your app builds, runs, and integrates with various Ionic services.</a:t>
            </a:r>
            <a:endParaRPr/>
          </a:p>
        </p:txBody>
      </p:sp>
      <p:sp>
        <p:nvSpPr>
          <p:cNvPr id="370" name="Google Shape;370;g1ff22d4f51b_0_30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1ff22d4f51b_0_30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77" name="Google Shape;377;g1ff22d4f51b_0_30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378" name="Google Shape;378;g1ff22d4f51b_0_307"/>
          <p:cNvPicPr preferRelativeResize="0"/>
          <p:nvPr/>
        </p:nvPicPr>
        <p:blipFill>
          <a:blip r:embed="rId3">
            <a:alphaModFix/>
          </a:blip>
          <a:stretch>
            <a:fillRect/>
          </a:stretch>
        </p:blipFill>
        <p:spPr>
          <a:xfrm>
            <a:off x="1809750" y="1112050"/>
            <a:ext cx="8572500" cy="5181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ff22d4f51b_0_31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The cypress.config.ts file is the main configuration file for Cypress, a popular end-to-end testing framework. This TypeScript configuration file replaces the older cypress.json and allows more dynamic and programmable configuration options.</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By using TypeScript for the configuration file, users benefit from type-checking and easier navigation through configuration properties, improving the developer experience.</a:t>
            </a:r>
            <a:endParaRPr/>
          </a:p>
        </p:txBody>
      </p:sp>
      <p:sp>
        <p:nvSpPr>
          <p:cNvPr id="385" name="Google Shape;385;g1ff22d4f51b_0_31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1ff22d4f51b_0_335"/>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By checking the package.json file, we can see that the base setup of an Ionic project rely on the latest technologies - and using the latest version each time.</a:t>
            </a:r>
            <a:endParaRPr/>
          </a:p>
          <a:p>
            <a:pPr indent="0" lvl="0" marL="0" rtl="0" algn="l">
              <a:lnSpc>
                <a:spcPct val="90000"/>
              </a:lnSpc>
              <a:spcBef>
                <a:spcPts val="0"/>
              </a:spcBef>
              <a:spcAft>
                <a:spcPts val="0"/>
              </a:spcAft>
              <a:buSzPts val="1800"/>
              <a:buNone/>
            </a:pPr>
            <a:r>
              <a:t/>
            </a:r>
            <a:endParaRPr/>
          </a:p>
          <a:p>
            <a:pPr indent="-342900" lvl="0" marL="457200" rtl="0" algn="l">
              <a:lnSpc>
                <a:spcPct val="90000"/>
              </a:lnSpc>
              <a:spcBef>
                <a:spcPts val="0"/>
              </a:spcBef>
              <a:spcAft>
                <a:spcPts val="0"/>
              </a:spcAft>
              <a:buSzPts val="1800"/>
              <a:buChar char="•"/>
            </a:pPr>
            <a:r>
              <a:rPr lang="en-US"/>
              <a:t>Typescript</a:t>
            </a:r>
            <a:endParaRPr/>
          </a:p>
          <a:p>
            <a:pPr indent="-342900" lvl="0" marL="457200" rtl="0" algn="l">
              <a:lnSpc>
                <a:spcPct val="90000"/>
              </a:lnSpc>
              <a:spcBef>
                <a:spcPts val="0"/>
              </a:spcBef>
              <a:spcAft>
                <a:spcPts val="0"/>
              </a:spcAft>
              <a:buSzPts val="1800"/>
              <a:buChar char="•"/>
            </a:pPr>
            <a:r>
              <a:rPr lang="en-US"/>
              <a:t>React</a:t>
            </a:r>
            <a:endParaRPr/>
          </a:p>
          <a:p>
            <a:pPr indent="-342900" lvl="0" marL="457200" rtl="0" algn="l">
              <a:lnSpc>
                <a:spcPct val="90000"/>
              </a:lnSpc>
              <a:spcBef>
                <a:spcPts val="0"/>
              </a:spcBef>
              <a:spcAft>
                <a:spcPts val="0"/>
              </a:spcAft>
              <a:buSzPts val="1800"/>
              <a:buChar char="•"/>
            </a:pPr>
            <a:r>
              <a:rPr lang="en-US"/>
              <a:t>Capacitor</a:t>
            </a:r>
            <a:endParaRPr/>
          </a:p>
          <a:p>
            <a:pPr indent="-342900" lvl="0" marL="457200" rtl="0" algn="l">
              <a:lnSpc>
                <a:spcPct val="90000"/>
              </a:lnSpc>
              <a:spcBef>
                <a:spcPts val="0"/>
              </a:spcBef>
              <a:spcAft>
                <a:spcPts val="0"/>
              </a:spcAft>
              <a:buSzPts val="1800"/>
              <a:buChar char="•"/>
            </a:pPr>
            <a:r>
              <a:rPr lang="en-US"/>
              <a:t>Cypress</a:t>
            </a:r>
            <a:endParaRPr/>
          </a:p>
          <a:p>
            <a:pPr indent="-342900" lvl="0" marL="457200" rtl="0" algn="l">
              <a:lnSpc>
                <a:spcPct val="90000"/>
              </a:lnSpc>
              <a:spcBef>
                <a:spcPts val="0"/>
              </a:spcBef>
              <a:spcAft>
                <a:spcPts val="0"/>
              </a:spcAft>
              <a:buSzPts val="1800"/>
              <a:buChar char="•"/>
            </a:pPr>
            <a:r>
              <a:rPr lang="en-US"/>
              <a:t>Jest</a:t>
            </a:r>
            <a:endParaRPr/>
          </a:p>
        </p:txBody>
      </p:sp>
      <p:sp>
        <p:nvSpPr>
          <p:cNvPr id="392" name="Google Shape;392;g1ff22d4f51b_0_335"/>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1ff22d4f51b_0_329"/>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Now that you are aware of the configuration file, let’s see what is living inside the “src” folder.</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Inside this folder we have something that </a:t>
            </a:r>
            <a:r>
              <a:rPr lang="en-US"/>
              <a:t>could be familiar if you worked on large project using React</a:t>
            </a:r>
            <a:endParaRPr/>
          </a:p>
          <a:p>
            <a:pPr indent="0" lvl="0" marL="0" rtl="0" algn="l">
              <a:lnSpc>
                <a:spcPct val="90000"/>
              </a:lnSpc>
              <a:spcBef>
                <a:spcPts val="0"/>
              </a:spcBef>
              <a:spcAft>
                <a:spcPts val="0"/>
              </a:spcAft>
              <a:buSzPts val="1800"/>
              <a:buNone/>
            </a:pPr>
            <a:r>
              <a:t/>
            </a:r>
            <a:endParaRPr/>
          </a:p>
          <a:p>
            <a:pPr indent="-342900" lvl="0" marL="457200" rtl="0" algn="l">
              <a:lnSpc>
                <a:spcPct val="90000"/>
              </a:lnSpc>
              <a:spcBef>
                <a:spcPts val="0"/>
              </a:spcBef>
              <a:spcAft>
                <a:spcPts val="0"/>
              </a:spcAft>
              <a:buSzPts val="1800"/>
              <a:buChar char="•"/>
            </a:pPr>
            <a:r>
              <a:rPr lang="en-US"/>
              <a:t>pages</a:t>
            </a:r>
            <a:endParaRPr/>
          </a:p>
          <a:p>
            <a:pPr indent="-342900" lvl="0" marL="457200" rtl="0" algn="l">
              <a:lnSpc>
                <a:spcPct val="90000"/>
              </a:lnSpc>
              <a:spcBef>
                <a:spcPts val="0"/>
              </a:spcBef>
              <a:spcAft>
                <a:spcPts val="0"/>
              </a:spcAft>
              <a:buSzPts val="1800"/>
              <a:buChar char="•"/>
            </a:pPr>
            <a:r>
              <a:rPr lang="en-US"/>
              <a:t>components</a:t>
            </a:r>
            <a:endParaRPr/>
          </a:p>
          <a:p>
            <a:pPr indent="-342900" lvl="0" marL="457200" rtl="0" algn="l">
              <a:lnSpc>
                <a:spcPct val="90000"/>
              </a:lnSpc>
              <a:spcBef>
                <a:spcPts val="0"/>
              </a:spcBef>
              <a:spcAft>
                <a:spcPts val="0"/>
              </a:spcAft>
              <a:buSzPts val="1800"/>
              <a:buChar char="•"/>
            </a:pPr>
            <a:r>
              <a:rPr lang="en-US"/>
              <a:t>App.tsx</a:t>
            </a:r>
            <a:endParaRPr/>
          </a:p>
          <a:p>
            <a:pPr indent="-342900" lvl="0" marL="457200" rtl="0" algn="l">
              <a:lnSpc>
                <a:spcPct val="90000"/>
              </a:lnSpc>
              <a:spcBef>
                <a:spcPts val="0"/>
              </a:spcBef>
              <a:spcAft>
                <a:spcPts val="0"/>
              </a:spcAft>
              <a:buSzPts val="1800"/>
              <a:buChar char="•"/>
            </a:pPr>
            <a:r>
              <a:rPr lang="en-US"/>
              <a:t>Main.tsx</a:t>
            </a:r>
            <a:endParaRPr/>
          </a:p>
        </p:txBody>
      </p:sp>
      <p:sp>
        <p:nvSpPr>
          <p:cNvPr id="399" name="Google Shape;399;g1ff22d4f51b_0_329"/>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1ff22d4f51b_0_34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406" name="Google Shape;406;g1ff22d4f51b_0_34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407" name="Google Shape;407;g1ff22d4f51b_0_341"/>
          <p:cNvPicPr preferRelativeResize="0"/>
          <p:nvPr/>
        </p:nvPicPr>
        <p:blipFill>
          <a:blip r:embed="rId3">
            <a:alphaModFix/>
          </a:blip>
          <a:stretch>
            <a:fillRect/>
          </a:stretch>
        </p:blipFill>
        <p:spPr>
          <a:xfrm>
            <a:off x="1228725" y="1079525"/>
            <a:ext cx="9734550" cy="54292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1ff22d4f51b_0_34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You can compare the “Main.tsx” file with the same file in a React project. </a:t>
            </a:r>
            <a:br>
              <a:rPr lang="en-US"/>
            </a:br>
            <a:br>
              <a:rPr lang="en-US"/>
            </a:br>
            <a:r>
              <a:rPr lang="en-US"/>
              <a:t>This is almost the same content that a normal react project, and this file leverage just basic React setup. Seeing the content you should not discover new magic rules here!</a:t>
            </a:r>
            <a:endParaRPr/>
          </a:p>
        </p:txBody>
      </p:sp>
      <p:sp>
        <p:nvSpPr>
          <p:cNvPr id="414" name="Google Shape;414;g1ff22d4f51b_0_34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1ff22d4f51b_0_35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421" name="Google Shape;421;g1ff22d4f51b_0_35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422" name="Google Shape;422;g1ff22d4f51b_0_353"/>
          <p:cNvPicPr preferRelativeResize="0"/>
          <p:nvPr/>
        </p:nvPicPr>
        <p:blipFill>
          <a:blip r:embed="rId3">
            <a:alphaModFix/>
          </a:blip>
          <a:stretch>
            <a:fillRect/>
          </a:stretch>
        </p:blipFill>
        <p:spPr>
          <a:xfrm>
            <a:off x="1228725" y="1068125"/>
            <a:ext cx="9734550" cy="5429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1ff22d4f51b_0_365"/>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The default “App.tsx” is the larger file you will have in your default project, especially because of the setup we choose. </a:t>
            </a:r>
            <a:br>
              <a:rPr lang="en-US"/>
            </a:br>
            <a:br>
              <a:rPr lang="en-US"/>
            </a:br>
            <a:r>
              <a:rPr lang="en-US"/>
              <a:t>As you can see - and guess - this also load and setup a router for our project as we have multiple pages.</a:t>
            </a:r>
            <a:br>
              <a:rPr lang="en-US"/>
            </a:br>
            <a:r>
              <a:rPr lang="en-US"/>
              <a:t>Using your knowledge, you should be able to spot </a:t>
            </a:r>
            <a:endParaRPr/>
          </a:p>
          <a:p>
            <a:pPr indent="0" lvl="0" marL="0" rtl="0" algn="l">
              <a:lnSpc>
                <a:spcPct val="90000"/>
              </a:lnSpc>
              <a:spcBef>
                <a:spcPts val="0"/>
              </a:spcBef>
              <a:spcAft>
                <a:spcPts val="0"/>
              </a:spcAft>
              <a:buSzPts val="1800"/>
              <a:buNone/>
            </a:pPr>
            <a:r>
              <a:t/>
            </a:r>
            <a:endParaRPr/>
          </a:p>
          <a:p>
            <a:pPr indent="-342900" lvl="0" marL="457200" rtl="0" algn="l">
              <a:lnSpc>
                <a:spcPct val="90000"/>
              </a:lnSpc>
              <a:spcBef>
                <a:spcPts val="0"/>
              </a:spcBef>
              <a:spcAft>
                <a:spcPts val="0"/>
              </a:spcAft>
              <a:buSzPts val="1800"/>
              <a:buChar char="•"/>
            </a:pPr>
            <a:r>
              <a:rPr lang="en-US"/>
              <a:t>the setup of the router</a:t>
            </a:r>
            <a:endParaRPr/>
          </a:p>
          <a:p>
            <a:pPr indent="-342900" lvl="0" marL="457200" rtl="0" algn="l">
              <a:lnSpc>
                <a:spcPct val="90000"/>
              </a:lnSpc>
              <a:spcBef>
                <a:spcPts val="0"/>
              </a:spcBef>
              <a:spcAft>
                <a:spcPts val="0"/>
              </a:spcAft>
              <a:buSzPts val="1800"/>
              <a:buChar char="•"/>
            </a:pPr>
            <a:r>
              <a:rPr lang="en-US"/>
              <a:t>loading and using pages depending on the route</a:t>
            </a:r>
            <a:endParaRPr/>
          </a:p>
          <a:p>
            <a:pPr indent="-342900" lvl="0" marL="457200" rtl="0" algn="l">
              <a:lnSpc>
                <a:spcPct val="90000"/>
              </a:lnSpc>
              <a:spcBef>
                <a:spcPts val="0"/>
              </a:spcBef>
              <a:spcAft>
                <a:spcPts val="0"/>
              </a:spcAft>
              <a:buSzPts val="1800"/>
              <a:buChar char="•"/>
            </a:pPr>
            <a:r>
              <a:rPr lang="en-US"/>
              <a:t>specific component from Ionic</a:t>
            </a:r>
            <a:endParaRPr/>
          </a:p>
          <a:p>
            <a:pPr indent="0" lvl="0" marL="0" rtl="0" algn="l">
              <a:lnSpc>
                <a:spcPct val="90000"/>
              </a:lnSpc>
              <a:spcBef>
                <a:spcPts val="0"/>
              </a:spcBef>
              <a:spcAft>
                <a:spcPts val="0"/>
              </a:spcAft>
              <a:buSzPts val="1800"/>
              <a:buNone/>
            </a:pPr>
            <a:r>
              <a:t/>
            </a:r>
            <a:endParaRPr/>
          </a:p>
        </p:txBody>
      </p:sp>
      <p:sp>
        <p:nvSpPr>
          <p:cNvPr id="429" name="Google Shape;429;g1ff22d4f51b_0_365"/>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1ff22d4f51b_0_37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We will spend some more time a bit later to see all specific components coming from Ionic and how we can use them with efficiency on our project - and how they are mapped to other components in a more standard React / web based ecosystem.</a:t>
            </a:r>
            <a:endParaRPr/>
          </a:p>
        </p:txBody>
      </p:sp>
      <p:sp>
        <p:nvSpPr>
          <p:cNvPr id="436" name="Google Shape;436;g1ff22d4f51b_0_37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1ff22d4f51b_0_37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443" name="Google Shape;443;g1ff22d4f51b_0_37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444" name="Google Shape;444;g1ff22d4f51b_0_377"/>
          <p:cNvPicPr preferRelativeResize="0"/>
          <p:nvPr/>
        </p:nvPicPr>
        <p:blipFill>
          <a:blip r:embed="rId3">
            <a:alphaModFix/>
          </a:blip>
          <a:stretch>
            <a:fillRect/>
          </a:stretch>
        </p:blipFill>
        <p:spPr>
          <a:xfrm>
            <a:off x="2434299" y="1073450"/>
            <a:ext cx="7316801" cy="56027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1ff22d4f51b_0_38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 page is simply a component using other component. </a:t>
            </a:r>
            <a:endParaRPr/>
          </a:p>
        </p:txBody>
      </p:sp>
      <p:sp>
        <p:nvSpPr>
          <p:cNvPr id="451" name="Google Shape;451;g1ff22d4f51b_0_38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1ff22d4f51b_0_39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458" name="Google Shape;458;g1ff22d4f51b_0_39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pic>
        <p:nvPicPr>
          <p:cNvPr id="459" name="Google Shape;459;g1ff22d4f51b_0_391"/>
          <p:cNvPicPr preferRelativeResize="0"/>
          <p:nvPr/>
        </p:nvPicPr>
        <p:blipFill>
          <a:blip r:embed="rId3">
            <a:alphaModFix/>
          </a:blip>
          <a:stretch>
            <a:fillRect/>
          </a:stretch>
        </p:blipFill>
        <p:spPr>
          <a:xfrm>
            <a:off x="2106286" y="947100"/>
            <a:ext cx="7979426" cy="585550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1ff22d4f51b_0_39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 basic component, like you would see hundreds of them in a React project. </a:t>
            </a:r>
            <a:br>
              <a:rPr lang="en-US"/>
            </a:br>
            <a:br>
              <a:rPr lang="en-US"/>
            </a:br>
            <a:r>
              <a:rPr lang="en-US"/>
              <a:t>There is </a:t>
            </a:r>
            <a:r>
              <a:rPr lang="en-US"/>
              <a:t>absolutely</a:t>
            </a:r>
            <a:r>
              <a:rPr lang="en-US"/>
              <a:t> no custom code from Ionic, basic HTML, CSS and core JSX solution.</a:t>
            </a:r>
            <a:endParaRPr/>
          </a:p>
        </p:txBody>
      </p:sp>
      <p:sp>
        <p:nvSpPr>
          <p:cNvPr id="466" name="Google Shape;466;g1ff22d4f51b_0_39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Setup</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g1ff22d4f51b_0_120"/>
          <p:cNvPicPr preferRelativeResize="0"/>
          <p:nvPr/>
        </p:nvPicPr>
        <p:blipFill rotWithShape="1">
          <a:blip r:embed="rId3">
            <a:alphaModFix/>
          </a:blip>
          <a:srcRect b="0" l="0" r="0" t="0"/>
          <a:stretch/>
        </p:blipFill>
        <p:spPr>
          <a:xfrm>
            <a:off x="4882413" y="2215413"/>
            <a:ext cx="2427174" cy="2427174"/>
          </a:xfrm>
          <a:prstGeom prst="rect">
            <a:avLst/>
          </a:prstGeom>
          <a:noFill/>
          <a:ln>
            <a:noFill/>
          </a:ln>
        </p:spPr>
      </p:pic>
      <p:sp>
        <p:nvSpPr>
          <p:cNvPr id="473" name="Google Shape;473;g1ff22d4f51b_0_120"/>
          <p:cNvSpPr txBox="1"/>
          <p:nvPr/>
        </p:nvSpPr>
        <p:spPr>
          <a:xfrm>
            <a:off x="4964200" y="4642575"/>
            <a:ext cx="2454000" cy="459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Exercises</a:t>
            </a:r>
            <a:endParaRPr b="0" i="0" sz="2800" u="none" cap="none" strike="noStrike">
              <a:solidFill>
                <a:schemeClr val="lt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1ff22d4f51b_0_126"/>
          <p:cNvSpPr txBox="1"/>
          <p:nvPr>
            <p:ph idx="1" type="body"/>
          </p:nvPr>
        </p:nvSpPr>
        <p:spPr>
          <a:xfrm>
            <a:off x="838199" y="365126"/>
            <a:ext cx="10515600" cy="579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1ff22d4f51b_0_131"/>
          <p:cNvSpPr txBox="1"/>
          <p:nvPr>
            <p:ph idx="1" type="body"/>
          </p:nvPr>
        </p:nvSpPr>
        <p:spPr>
          <a:xfrm>
            <a:off x="844550" y="1786740"/>
            <a:ext cx="10515600" cy="2851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None/>
            </a:pPr>
            <a:r>
              <a:rPr lang="en-US"/>
              <a:t>3</a:t>
            </a:r>
            <a:r>
              <a:rPr lang="en-US"/>
              <a:t>. Ionic Components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1ff22d4f51b_0_136"/>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Ionic Framework provides a robust set of UI components that are designed to offer high performance and a native-like experience across multiple platforms.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Let’s see a list of some common Ionic components that developers can leverage to build engaging mobile and desktop applications.</a:t>
            </a:r>
            <a:endParaRPr/>
          </a:p>
        </p:txBody>
      </p:sp>
      <p:sp>
        <p:nvSpPr>
          <p:cNvPr id="492" name="Google Shape;492;g1ff22d4f51b_0_136"/>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1ff22d4f51b_0_434"/>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Buttons (IonButton)</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Ionic buttons are versatile UI elements that can be styled easily with various colors, shapes, and sizes. They can include icons along with text or be icon-only. Buttons can be used anywhere you need user interaction, like submitting forms, opening modals, or initiating any action.</a:t>
            </a:r>
            <a:endParaRPr/>
          </a:p>
        </p:txBody>
      </p:sp>
      <p:sp>
        <p:nvSpPr>
          <p:cNvPr id="499" name="Google Shape;499;g1ff22d4f51b_0_434"/>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1ff22d4f51b_0_61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506" name="Google Shape;506;g1ff22d4f51b_0_61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507" name="Google Shape;507;g1ff22d4f51b_0_617"/>
          <p:cNvPicPr preferRelativeResize="0"/>
          <p:nvPr/>
        </p:nvPicPr>
        <p:blipFill>
          <a:blip r:embed="rId3">
            <a:alphaModFix/>
          </a:blip>
          <a:stretch>
            <a:fillRect/>
          </a:stretch>
        </p:blipFill>
        <p:spPr>
          <a:xfrm>
            <a:off x="504825" y="2352675"/>
            <a:ext cx="11182350" cy="21526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1ff22d4f51b_0_440"/>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Cards (IonCard)</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Cards are flexible boxes containing unique related data, such as photos, text, links, etc. They are commonly used to display information in a compact format and are often seen in social media or news feed applications.</a:t>
            </a:r>
            <a:endParaRPr/>
          </a:p>
        </p:txBody>
      </p:sp>
      <p:sp>
        <p:nvSpPr>
          <p:cNvPr id="514" name="Google Shape;514;g1ff22d4f51b_0_440"/>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1ff22d4f51b_0_61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521" name="Google Shape;521;g1ff22d4f51b_0_61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522" name="Google Shape;522;g1ff22d4f51b_0_611"/>
          <p:cNvPicPr preferRelativeResize="0"/>
          <p:nvPr/>
        </p:nvPicPr>
        <p:blipFill>
          <a:blip r:embed="rId3">
            <a:alphaModFix/>
          </a:blip>
          <a:stretch>
            <a:fillRect/>
          </a:stretch>
        </p:blipFill>
        <p:spPr>
          <a:xfrm>
            <a:off x="219075" y="1264375"/>
            <a:ext cx="11753850" cy="49911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1ff22d4f51b_0_446"/>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Alerts (IonAlert)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Alerts are dialogues that provide important information to the user or ask for a decision. They can include multiple buttons and even inputs for text, passwords, or numbers. Alerts are essential for interactions where user confirmation is required before proceeding.</a:t>
            </a:r>
            <a:endParaRPr/>
          </a:p>
        </p:txBody>
      </p:sp>
      <p:sp>
        <p:nvSpPr>
          <p:cNvPr id="529" name="Google Shape;529;g1ff22d4f51b_0_446"/>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1ff22d4f51b_0_605"/>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536" name="Google Shape;536;g1ff22d4f51b_0_605"/>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537" name="Google Shape;537;g1ff22d4f51b_0_605"/>
          <p:cNvPicPr preferRelativeResize="0"/>
          <p:nvPr/>
        </p:nvPicPr>
        <p:blipFill>
          <a:blip r:embed="rId3">
            <a:alphaModFix/>
          </a:blip>
          <a:stretch>
            <a:fillRect/>
          </a:stretch>
        </p:blipFill>
        <p:spPr>
          <a:xfrm>
            <a:off x="2511778" y="1414875"/>
            <a:ext cx="7168451" cy="512362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1ff22d4f51b_0_45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Badges (IonBadge)</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Badges typically appear over another UI element and are used to give quick information to the user, like the number of unread messages or notifications. They are small and designed to catch the eye without being intrusive.</a:t>
            </a:r>
            <a:endParaRPr/>
          </a:p>
        </p:txBody>
      </p:sp>
      <p:sp>
        <p:nvSpPr>
          <p:cNvPr id="544" name="Google Shape;544;g1ff22d4f51b_0_45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1ff22d4f51b_0_599"/>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551" name="Google Shape;551;g1ff22d4f51b_0_599"/>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552" name="Google Shape;552;g1ff22d4f51b_0_599"/>
          <p:cNvPicPr preferRelativeResize="0"/>
          <p:nvPr/>
        </p:nvPicPr>
        <p:blipFill>
          <a:blip r:embed="rId3">
            <a:alphaModFix/>
          </a:blip>
          <a:stretch>
            <a:fillRect/>
          </a:stretch>
        </p:blipFill>
        <p:spPr>
          <a:xfrm>
            <a:off x="1914525" y="1914525"/>
            <a:ext cx="8362950" cy="30289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1ff22d4f51b_0_458"/>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Checkbox (IonCheckbox)</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Checkboxes allow the user to select multiple options from a set or toggle a single option on or off. They are a common element in forms and settings, providing a clear visual indication of an option's status.</a:t>
            </a:r>
            <a:endParaRPr/>
          </a:p>
        </p:txBody>
      </p:sp>
      <p:sp>
        <p:nvSpPr>
          <p:cNvPr id="559" name="Google Shape;559;g1ff22d4f51b_0_458"/>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1ff22d4f51b_0_59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566" name="Google Shape;566;g1ff22d4f51b_0_59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567" name="Google Shape;567;g1ff22d4f51b_0_593"/>
          <p:cNvPicPr preferRelativeResize="0"/>
          <p:nvPr/>
        </p:nvPicPr>
        <p:blipFill>
          <a:blip r:embed="rId3">
            <a:alphaModFix/>
          </a:blip>
          <a:stretch>
            <a:fillRect/>
          </a:stretch>
        </p:blipFill>
        <p:spPr>
          <a:xfrm>
            <a:off x="1759038" y="1229300"/>
            <a:ext cx="8673925" cy="52911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1ff22d4f51b_0_464"/>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DateTime (IonDatetime)</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component presents an interface for date and time selection in various formats, supporting use cases such as appointment or reservation systems. It can display picker wheels, calendars, and time selectors based on configuration.</a:t>
            </a:r>
            <a:endParaRPr/>
          </a:p>
        </p:txBody>
      </p:sp>
      <p:sp>
        <p:nvSpPr>
          <p:cNvPr id="574" name="Google Shape;574;g1ff22d4f51b_0_464"/>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1ff22d4f51b_0_58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581" name="Google Shape;581;g1ff22d4f51b_0_58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582" name="Google Shape;582;g1ff22d4f51b_0_587"/>
          <p:cNvPicPr preferRelativeResize="0"/>
          <p:nvPr/>
        </p:nvPicPr>
        <p:blipFill>
          <a:blip r:embed="rId3">
            <a:alphaModFix/>
          </a:blip>
          <a:stretch>
            <a:fillRect/>
          </a:stretch>
        </p:blipFill>
        <p:spPr>
          <a:xfrm>
            <a:off x="1755738" y="1339700"/>
            <a:ext cx="8673925" cy="52911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1ff22d4f51b_0_476"/>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FABs (Floating Action Buttons - IonFab)</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These are circular buttons that hover over content, commonly used to promote primary actions like adding, composing, or creating new elements. They’re effective in applications where quick access to certain functions is necessary.</a:t>
            </a:r>
            <a:endParaRPr/>
          </a:p>
        </p:txBody>
      </p:sp>
      <p:sp>
        <p:nvSpPr>
          <p:cNvPr id="589" name="Google Shape;589;g1ff22d4f51b_0_476"/>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1ff22d4f51b_0_58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596" name="Google Shape;596;g1ff22d4f51b_0_58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597" name="Google Shape;597;g1ff22d4f51b_0_581"/>
          <p:cNvPicPr preferRelativeResize="0"/>
          <p:nvPr/>
        </p:nvPicPr>
        <p:blipFill>
          <a:blip r:embed="rId3">
            <a:alphaModFix/>
          </a:blip>
          <a:stretch>
            <a:fillRect/>
          </a:stretch>
        </p:blipFill>
        <p:spPr>
          <a:xfrm>
            <a:off x="1333500" y="1295400"/>
            <a:ext cx="9525000" cy="42672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1ff22d4f51b_0_482"/>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Grid (IonGrid)</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The grid system is a powerful tool for creating responsive layouts. It uses rows (ion-row) and columns (ion-col) to divide the screen into sections, making it easier to design layouts that work on both small and large screens.</a:t>
            </a:r>
            <a:endParaRPr/>
          </a:p>
        </p:txBody>
      </p:sp>
      <p:sp>
        <p:nvSpPr>
          <p:cNvPr id="604" name="Google Shape;604;g1ff22d4f51b_0_482"/>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1ff22d4f51b_0_575"/>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11" name="Google Shape;611;g1ff22d4f51b_0_575"/>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612" name="Google Shape;612;g1ff22d4f51b_0_575"/>
          <p:cNvPicPr preferRelativeResize="0"/>
          <p:nvPr/>
        </p:nvPicPr>
        <p:blipFill>
          <a:blip r:embed="rId3">
            <a:alphaModFix/>
          </a:blip>
          <a:stretch>
            <a:fillRect/>
          </a:stretch>
        </p:blipFill>
        <p:spPr>
          <a:xfrm>
            <a:off x="1333500" y="1085850"/>
            <a:ext cx="9525000" cy="46863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1ff22d4f51b_0_488"/>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Icons (IonIcon)</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Icons provide visual cues that help users interact with the application more intuitively. Ionic offers a comprehensive icon library that integrates seamlessly with its components.</a:t>
            </a:r>
            <a:endParaRPr/>
          </a:p>
        </p:txBody>
      </p:sp>
      <p:sp>
        <p:nvSpPr>
          <p:cNvPr id="619" name="Google Shape;619;g1ff22d4f51b_0_488"/>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1ff22d4f51b_0_569"/>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26" name="Google Shape;626;g1ff22d4f51b_0_569"/>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627" name="Google Shape;627;g1ff22d4f51b_0_569"/>
          <p:cNvPicPr preferRelativeResize="0"/>
          <p:nvPr/>
        </p:nvPicPr>
        <p:blipFill>
          <a:blip r:embed="rId3">
            <a:alphaModFix/>
          </a:blip>
          <a:stretch>
            <a:fillRect/>
          </a:stretch>
        </p:blipFill>
        <p:spPr>
          <a:xfrm>
            <a:off x="2590800" y="2533650"/>
            <a:ext cx="7010400" cy="17907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1ff22d4f51b_0_494"/>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Input (IonInput)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is used for text entry; it supports various types like text, password, and number. Inputs are essential for forms, enabling user interaction and data entry.</a:t>
            </a:r>
            <a:endParaRPr/>
          </a:p>
        </p:txBody>
      </p:sp>
      <p:sp>
        <p:nvSpPr>
          <p:cNvPr id="634" name="Google Shape;634;g1ff22d4f51b_0_494"/>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g1ff22d4f51b_0_56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41" name="Google Shape;641;g1ff22d4f51b_0_56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642" name="Google Shape;642;g1ff22d4f51b_0_563"/>
          <p:cNvPicPr preferRelativeResize="0"/>
          <p:nvPr/>
        </p:nvPicPr>
        <p:blipFill>
          <a:blip r:embed="rId3">
            <a:alphaModFix/>
          </a:blip>
          <a:stretch>
            <a:fillRect/>
          </a:stretch>
        </p:blipFill>
        <p:spPr>
          <a:xfrm>
            <a:off x="1026138" y="1176175"/>
            <a:ext cx="10139725" cy="50008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1ff22d4f51b_0_500"/>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List (IonList)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Lists are used to display rows of information and can be divided with headers, sections, and include options such as sliding items that reveal controls like delete or edit. They are versatile and used in settings, menus, and any place where grouped content is needed.</a:t>
            </a:r>
            <a:endParaRPr/>
          </a:p>
        </p:txBody>
      </p:sp>
      <p:sp>
        <p:nvSpPr>
          <p:cNvPr id="649" name="Google Shape;649;g1ff22d4f51b_0_500"/>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1ff22d4f51b_0_55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56" name="Google Shape;656;g1ff22d4f51b_0_55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657" name="Google Shape;657;g1ff22d4f51b_0_557"/>
          <p:cNvPicPr preferRelativeResize="0"/>
          <p:nvPr/>
        </p:nvPicPr>
        <p:blipFill>
          <a:blip r:embed="rId3">
            <a:alphaModFix/>
          </a:blip>
          <a:stretch>
            <a:fillRect/>
          </a:stretch>
        </p:blipFill>
        <p:spPr>
          <a:xfrm>
            <a:off x="2069963" y="1263650"/>
            <a:ext cx="8052074" cy="53467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1ff22d4f51b_0_51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Modal (IonModal)</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Modals are used to present content in a layer above the app's main content. They can be used to show more detailed information without leaving the current page or to get user input in isolation from the rest of the app's interface.</a:t>
            </a:r>
            <a:endParaRPr/>
          </a:p>
        </p:txBody>
      </p:sp>
      <p:sp>
        <p:nvSpPr>
          <p:cNvPr id="664" name="Google Shape;664;g1ff22d4f51b_0_51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g1ff22d4f51b_0_551"/>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71" name="Google Shape;671;g1ff22d4f51b_0_551"/>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672" name="Google Shape;672;g1ff22d4f51b_0_551"/>
          <p:cNvPicPr preferRelativeResize="0"/>
          <p:nvPr/>
        </p:nvPicPr>
        <p:blipFill>
          <a:blip r:embed="rId3">
            <a:alphaModFix/>
          </a:blip>
          <a:stretch>
            <a:fillRect/>
          </a:stretch>
        </p:blipFill>
        <p:spPr>
          <a:xfrm>
            <a:off x="2161948" y="1232175"/>
            <a:ext cx="7868104" cy="52853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1ff22d4f51b_0_517"/>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Tabs (IonTabs)</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Tabs facilitate navigation between different views or functionalities within an app, providing an efficient way to switch between them without leaving the context.</a:t>
            </a:r>
            <a:endParaRPr/>
          </a:p>
        </p:txBody>
      </p:sp>
      <p:sp>
        <p:nvSpPr>
          <p:cNvPr id="679" name="Google Shape;679;g1ff22d4f51b_0_517"/>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1ff22d4f51b_0_545"/>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686" name="Google Shape;686;g1ff22d4f51b_0_545"/>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pic>
        <p:nvPicPr>
          <p:cNvPr id="687" name="Google Shape;687;g1ff22d4f51b_0_545"/>
          <p:cNvPicPr preferRelativeResize="0"/>
          <p:nvPr/>
        </p:nvPicPr>
        <p:blipFill>
          <a:blip r:embed="rId3">
            <a:alphaModFix/>
          </a:blip>
          <a:stretch>
            <a:fillRect/>
          </a:stretch>
        </p:blipFill>
        <p:spPr>
          <a:xfrm>
            <a:off x="2429914" y="1113387"/>
            <a:ext cx="7332174" cy="55229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1ff22d4f51b_0_523"/>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100"/>
              <a:buNone/>
            </a:pPr>
            <a:r>
              <a:rPr lang="en-US"/>
              <a:t>Each of these components is designed to be integrated into a variety of mobile and desktop applications, ensuring that the user experience is seamless across different platforms and devices. </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US"/>
              <a:t>They can be easily customized with CSS, and their behaviors can be controlled using JavaScript or Angular, React, and Vue bindings provided by Ionic.</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90000"/>
              </a:lnSpc>
              <a:spcBef>
                <a:spcPts val="0"/>
              </a:spcBef>
              <a:spcAft>
                <a:spcPts val="0"/>
              </a:spcAft>
              <a:buSzPts val="1800"/>
              <a:buNone/>
            </a:pPr>
            <a:r>
              <a:t/>
            </a:r>
            <a:endParaRPr/>
          </a:p>
        </p:txBody>
      </p:sp>
      <p:sp>
        <p:nvSpPr>
          <p:cNvPr id="694" name="Google Shape;694;g1ff22d4f51b_0_523"/>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g1ff22d4f51b_0_529"/>
          <p:cNvSpPr txBox="1"/>
          <p:nvPr>
            <p:ph idx="1" type="body"/>
          </p:nvPr>
        </p:nvSpPr>
        <p:spPr>
          <a:xfrm>
            <a:off x="838200" y="1572648"/>
            <a:ext cx="10515600" cy="460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A complete list of all components can be found </a:t>
            </a:r>
            <a:r>
              <a:rPr lang="en-US" u="sng">
                <a:solidFill>
                  <a:schemeClr val="hlink"/>
                </a:solidFill>
                <a:hlinkClick r:id="rId3"/>
              </a:rPr>
              <a:t>here</a:t>
            </a:r>
            <a:r>
              <a:rPr lang="en-US"/>
              <a:t>. It is important to note that all components are </a:t>
            </a:r>
            <a:r>
              <a:rPr lang="en-US"/>
              <a:t>working on all framework, from React to Angular.</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This allow you to use the same “code” to render in the same way on all frameworks.</a:t>
            </a:r>
            <a:endParaRPr/>
          </a:p>
        </p:txBody>
      </p:sp>
      <p:sp>
        <p:nvSpPr>
          <p:cNvPr id="701" name="Google Shape;701;g1ff22d4f51b_0_529"/>
          <p:cNvSpPr txBox="1"/>
          <p:nvPr>
            <p:ph idx="2" type="body"/>
          </p:nvPr>
        </p:nvSpPr>
        <p:spPr>
          <a:xfrm>
            <a:off x="838200" y="384352"/>
            <a:ext cx="10509000" cy="56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2. Ionic Components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pic>
        <p:nvPicPr>
          <p:cNvPr id="707" name="Google Shape;707;g2d054763edd_2_6"/>
          <p:cNvPicPr preferRelativeResize="0"/>
          <p:nvPr/>
        </p:nvPicPr>
        <p:blipFill rotWithShape="1">
          <a:blip r:embed="rId3">
            <a:alphaModFix/>
          </a:blip>
          <a:srcRect b="0" l="0" r="0" t="0"/>
          <a:stretch/>
        </p:blipFill>
        <p:spPr>
          <a:xfrm>
            <a:off x="4882413" y="2215413"/>
            <a:ext cx="2427174" cy="2427174"/>
          </a:xfrm>
          <a:prstGeom prst="rect">
            <a:avLst/>
          </a:prstGeom>
          <a:noFill/>
          <a:ln>
            <a:noFill/>
          </a:ln>
        </p:spPr>
      </p:pic>
      <p:sp>
        <p:nvSpPr>
          <p:cNvPr id="708" name="Google Shape;708;g2d054763edd_2_6"/>
          <p:cNvSpPr txBox="1"/>
          <p:nvPr/>
        </p:nvSpPr>
        <p:spPr>
          <a:xfrm>
            <a:off x="4964200" y="4642575"/>
            <a:ext cx="2454000" cy="459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Exercises</a:t>
            </a:r>
            <a:endParaRPr b="0" i="0" sz="2800" u="none" cap="none" strike="noStrike">
              <a:solidFill>
                <a:schemeClr val="lt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g2d054763edd_2_12"/>
          <p:cNvSpPr txBox="1"/>
          <p:nvPr>
            <p:ph idx="1" type="body"/>
          </p:nvPr>
        </p:nvSpPr>
        <p:spPr>
          <a:xfrm>
            <a:off x="838199" y="365126"/>
            <a:ext cx="10515600" cy="579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2023-09-21T14:17:13Z</dcterms:created>
  <dc:creator>Draltan Marin</dc:creator>
</cp:coreProperties>
</file>